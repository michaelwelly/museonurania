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cfeb5c171948ce" /><Relationship Type="http://schemas.openxmlformats.org/officeDocument/2006/relationships/extended-properties" Target="/docProps/app.xml" Id="R255bdde866bc4ebe" /><Relationship Type="http://schemas.openxmlformats.org/officeDocument/2006/relationships/officeDocument" Target="/ppt/presentation.xml" Id="Rd4e4b92464e041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2bad739a94ba6"/>
  </p:sldMasterIdLst>
  <p:notesMasterIdLst>
    <p:notesMasterId xmlns:r="http://schemas.openxmlformats.org/officeDocument/2006/relationships" r:id="R55a800a3d74d44f8"/>
  </p:notesMasterIdLst>
  <p:sldIdLst>
    <p:sldId xmlns:r="http://schemas.openxmlformats.org/officeDocument/2006/relationships" id="256" r:id="R41f163c2c7c84f63"/>
    <p:sldId xmlns:r="http://schemas.openxmlformats.org/officeDocument/2006/relationships" id="257" r:id="Rc4380f5794544324"/>
    <p:sldId xmlns:r="http://schemas.openxmlformats.org/officeDocument/2006/relationships" id="258" r:id="R27a994f308fc4188"/>
    <p:sldId xmlns:r="http://schemas.openxmlformats.org/officeDocument/2006/relationships" id="259" r:id="Rf9adbde40735403e"/>
    <p:sldId xmlns:r="http://schemas.openxmlformats.org/officeDocument/2006/relationships" id="260" r:id="Rf0c6f28b42de4ce2"/>
    <p:sldId xmlns:r="http://schemas.openxmlformats.org/officeDocument/2006/relationships" id="261" r:id="R5b098eb078dd4ab6"/>
    <p:sldId xmlns:r="http://schemas.openxmlformats.org/officeDocument/2006/relationships" id="262" r:id="R201b57fa57d34d61"/>
    <p:sldId xmlns:r="http://schemas.openxmlformats.org/officeDocument/2006/relationships" id="263" r:id="R4f5daf76361e4332"/>
    <p:sldId xmlns:r="http://schemas.openxmlformats.org/officeDocument/2006/relationships" id="264" r:id="R197c114d620b45db"/>
    <p:sldId xmlns:r="http://schemas.openxmlformats.org/officeDocument/2006/relationships" id="265" r:id="Rcdcfe7f9916145b3"/>
    <p:sldId xmlns:r="http://schemas.openxmlformats.org/officeDocument/2006/relationships" id="266" r:id="R7788fc678d054784"/>
    <p:sldId xmlns:r="http://schemas.openxmlformats.org/officeDocument/2006/relationships" id="267" r:id="Rc8a8030a6f834060"/>
    <p:sldId xmlns:r="http://schemas.openxmlformats.org/officeDocument/2006/relationships" id="268" r:id="R02e708d75ec9426a"/>
    <p:sldId xmlns:r="http://schemas.openxmlformats.org/officeDocument/2006/relationships" id="269" r:id="Rb4cf820c7f3b47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71c7c5d75431f" /><Relationship Type="http://schemas.openxmlformats.org/officeDocument/2006/relationships/slideMaster" Target="/ppt/slideMasters/slideMaster1.xml" Id="R7172bad739a94ba6" /><Relationship Type="http://schemas.openxmlformats.org/officeDocument/2006/relationships/notesMaster" Target="/ppt/notesMasters/notesMaster1.xml" Id="R55a800a3d74d44f8" /><Relationship Type="http://schemas.openxmlformats.org/officeDocument/2006/relationships/presProps" Target="/ppt/presProps.xml" Id="Ra5c6f2f0d48e4c69" /><Relationship Type="http://schemas.openxmlformats.org/officeDocument/2006/relationships/viewProps" Target="/ppt/viewProps.xml" Id="Rf6fe31653fd14407" /><Relationship Type="http://schemas.openxmlformats.org/officeDocument/2006/relationships/tableStyles" Target="/ppt/tableStyles.xml" Id="Reb9a7f741d0c428a" /><Relationship Type="http://schemas.openxmlformats.org/officeDocument/2006/relationships/slide" Target="/ppt/slides/slide1.xml" Id="R41f163c2c7c84f63" /><Relationship Type="http://schemas.openxmlformats.org/officeDocument/2006/relationships/slide" Target="/ppt/slides/slide2.xml" Id="Rc4380f5794544324" /><Relationship Type="http://schemas.openxmlformats.org/officeDocument/2006/relationships/slide" Target="/ppt/slides/slide3.xml" Id="R27a994f308fc4188" /><Relationship Type="http://schemas.openxmlformats.org/officeDocument/2006/relationships/slide" Target="/ppt/slides/slide4.xml" Id="Rf9adbde40735403e" /><Relationship Type="http://schemas.openxmlformats.org/officeDocument/2006/relationships/slide" Target="/ppt/slides/slide5.xml" Id="Rf0c6f28b42de4ce2" /><Relationship Type="http://schemas.openxmlformats.org/officeDocument/2006/relationships/slide" Target="/ppt/slides/slide6.xml" Id="R5b098eb078dd4ab6" /><Relationship Type="http://schemas.openxmlformats.org/officeDocument/2006/relationships/slide" Target="/ppt/slides/slide7.xml" Id="R201b57fa57d34d61" /><Relationship Type="http://schemas.openxmlformats.org/officeDocument/2006/relationships/slide" Target="/ppt/slides/slide8.xml" Id="R4f5daf76361e4332" /><Relationship Type="http://schemas.openxmlformats.org/officeDocument/2006/relationships/slide" Target="/ppt/slides/slide9.xml" Id="R197c114d620b45db" /><Relationship Type="http://schemas.openxmlformats.org/officeDocument/2006/relationships/slide" Target="/ppt/slides/slide10.xml" Id="Rcdcfe7f9916145b3" /><Relationship Type="http://schemas.openxmlformats.org/officeDocument/2006/relationships/slide" Target="/ppt/slides/slide11.xml" Id="R7788fc678d054784" /><Relationship Type="http://schemas.openxmlformats.org/officeDocument/2006/relationships/slide" Target="/ppt/slides/slide12.xml" Id="Rc8a8030a6f834060" /><Relationship Type="http://schemas.openxmlformats.org/officeDocument/2006/relationships/slide" Target="/ppt/slides/slide13.xml" Id="R02e708d75ec9426a" /><Relationship Type="http://schemas.openxmlformats.org/officeDocument/2006/relationships/slide" Target="/ppt/slides/slide14.xml" Id="Rb4cf820c7f3b47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288de2ba3440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5880336acb4335" /><Relationship Type="http://schemas.openxmlformats.org/officeDocument/2006/relationships/notesMaster" Target="/ppt/notesMasters/notesMaster1.xml" Id="R377b5915a750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537233fa4499f" /><Relationship Type="http://schemas.openxmlformats.org/officeDocument/2006/relationships/notesMaster" Target="/ppt/notesMasters/notesMaster1.xml" Id="Rbb0ad487c16046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3cf35caf954c09" /><Relationship Type="http://schemas.openxmlformats.org/officeDocument/2006/relationships/notesMaster" Target="/ppt/notesMasters/notesMaster1.xml" Id="R4b9bb5c2fedf48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8a5a4b71bf4e21" /><Relationship Type="http://schemas.openxmlformats.org/officeDocument/2006/relationships/notesMaster" Target="/ppt/notesMasters/notesMaster1.xml" Id="R219a6bcbbf6e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419545af1d4fda" /><Relationship Type="http://schemas.openxmlformats.org/officeDocument/2006/relationships/notesMaster" Target="/ppt/notesMasters/notesMaster1.xml" Id="R2b8df7687b524e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6ad6ca861e4a0d" /><Relationship Type="http://schemas.openxmlformats.org/officeDocument/2006/relationships/notesMaster" Target="/ppt/notesMasters/notesMaster1.xml" Id="R3aeb80b2024e4b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a47e0993ec4eda" /><Relationship Type="http://schemas.openxmlformats.org/officeDocument/2006/relationships/notesMaster" Target="/ppt/notesMasters/notesMaster1.xml" Id="Rfed06f71164344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18e0895b5c4843" /><Relationship Type="http://schemas.openxmlformats.org/officeDocument/2006/relationships/notesMaster" Target="/ppt/notesMasters/notesMaster1.xml" Id="Rfd72699c0cad49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4977977099464d" /><Relationship Type="http://schemas.openxmlformats.org/officeDocument/2006/relationships/notesMaster" Target="/ppt/notesMasters/notesMaster1.xml" Id="R8af3d6ef0c7942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d50a11989349e4" /><Relationship Type="http://schemas.openxmlformats.org/officeDocument/2006/relationships/notesMaster" Target="/ppt/notesMasters/notesMaster1.xml" Id="Racb864d488ba49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521f9ac1c44450" /><Relationship Type="http://schemas.openxmlformats.org/officeDocument/2006/relationships/notesMaster" Target="/ppt/notesMasters/notesMaster1.xml" Id="R0c9f03aef32949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598b724f7f4ea8" /><Relationship Type="http://schemas.openxmlformats.org/officeDocument/2006/relationships/notesMaster" Target="/ppt/notesMasters/notesMaster1.xml" Id="Rcbd61ac77f5744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588fad87f44426" /><Relationship Type="http://schemas.openxmlformats.org/officeDocument/2006/relationships/notesMaster" Target="/ppt/notesMasters/notesMaster1.xml" Id="Ra4cae356676a4e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778e15737f49bf" /><Relationship Type="http://schemas.openxmlformats.org/officeDocument/2006/relationships/notesMaster" Target="/ppt/notesMasters/notesMaster1.xml" Id="R6c63a0f2c37f41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встречи — согласовать состав работ и порядок, а не детали реализации.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обещания, по которым можно проверить результат.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Разрыв между тем, что видно снаружи, и тем, что работает внутри.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Ограниченное число входов — то, что делает периметр обозримым.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Ключевое инженерное решение: запись данных и задание на отправку фиксируются одной операцией.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Ограничения зашиты в систему, а не в формулировку запроса к модели.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Обещание не в том, что не сломается, а в том, что известно, как чинить.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Требования закона превращаются в конкретные поля и процедуры, а не в обещания.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Порядок выбран так, чтобы ошибка на раннем этапе стоила дёшево.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Часть данных на сайте сейчас показана как заглушки и помечена соответствующим примечанием.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Просьба к встрече: подтвердить порядок этапов и назвать сроки по материалам.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Пять контуров. Зелёным выделено то, что пишем сами.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Границы модулей — из README серверной части, плюс content и assistant.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Эксплуатация занимает столько же места, сколько функциональность, — это норма для системы, которую сдают надолго.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c21546763440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54f9e7f9d94d15" /><Relationship Type="http://schemas.openxmlformats.org/officeDocument/2006/relationships/slideLayout" Target="/ppt/slideLayouts/slideLayout1.xml" Id="Rb1b56ac5153b433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56ac5153b433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05ecc9cf44b0a" /><Relationship Type="http://schemas.openxmlformats.org/officeDocument/2006/relationships/notesSlide" Target="/ppt/notesSlides/notesSlide1.xml" Id="Raf95e678790746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50e2537924cf7" /><Relationship Type="http://schemas.openxmlformats.org/officeDocument/2006/relationships/notesSlide" Target="/ppt/notesSlides/notesSlide2.xml" Id="Refb8c20e513540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a3a370d74226" /><Relationship Type="http://schemas.openxmlformats.org/officeDocument/2006/relationships/notesSlide" Target="/ppt/notesSlides/notesSlide3.xml" Id="R89593ab5cb2845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4b48c3bd5414a" /><Relationship Type="http://schemas.openxmlformats.org/officeDocument/2006/relationships/notesSlide" Target="/ppt/notesSlides/notesSlide4.xml" Id="Rb31ae3cbb7bb42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a8fdf0cf2478f" /><Relationship Type="http://schemas.openxmlformats.org/officeDocument/2006/relationships/notesSlide" Target="/ppt/notesSlides/notesSlide5.xml" Id="R47608f212308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ed9e1e4a9450e" /><Relationship Type="http://schemas.openxmlformats.org/officeDocument/2006/relationships/notesSlide" Target="/ppt/notesSlides/notesSlide6.xml" Id="Rf785284cee2c49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64a1c782642cc" /><Relationship Type="http://schemas.openxmlformats.org/officeDocument/2006/relationships/notesSlide" Target="/ppt/notesSlides/notesSlide7.xml" Id="Rd4c553736ea245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7afe8bb354897" /><Relationship Type="http://schemas.openxmlformats.org/officeDocument/2006/relationships/notesSlide" Target="/ppt/notesSlides/notesSlide8.xml" Id="R13ce0fe800f84e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4820465b14803" /><Relationship Type="http://schemas.openxmlformats.org/officeDocument/2006/relationships/notesSlide" Target="/ppt/notesSlides/notesSlide9.xml" Id="Rca12a41ed61644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37143b35e445e" /><Relationship Type="http://schemas.openxmlformats.org/officeDocument/2006/relationships/notesSlide" Target="/ppt/notesSlides/notesSlide10.xml" Id="R166046ba35c740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8bdefd0d24c6d" /><Relationship Type="http://schemas.openxmlformats.org/officeDocument/2006/relationships/notesSlide" Target="/ppt/notesSlides/notesSlide11.xml" Id="R95dcff2380ad4f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8a1da87a44e7f" /><Relationship Type="http://schemas.openxmlformats.org/officeDocument/2006/relationships/notesSlide" Target="/ppt/notesSlides/notesSlide12.xml" Id="R952dfe1f8c6446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dee9c902b4c8c" /><Relationship Type="http://schemas.openxmlformats.org/officeDocument/2006/relationships/notesSlide" Target="/ppt/notesSlides/notesSlide13.xml" Id="Rdf69bf37df134c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ddec998b848f0" /><Relationship Type="http://schemas.openxmlformats.org/officeDocument/2006/relationships/notesSlide" Target="/ppt/notesSlides/notesSlide14.xml" Id="R3d1c462fb5ee4c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4A22D5-FE56-4C16-A2C3-51FF83BB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00584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>
              <a:alpha val="12000"/>
            </a:srgbClr>
          </a:solidFill>
          <a:ln xmlns:a="http://schemas.openxmlformats.org/drawingml/2006/main" w="12700">
            <a:solidFill>
              <a:srgbClr val="149C3C">
                <a:alpha val="3000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4ABBF27-3DCD-4F3E-98B6-5037D965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777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VEDAL Portal</a:t>
            </a:r>
            <a:endParaRPr sz="5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4519E3-3B2B-45CF-9F74-2FD8D033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7772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>
                <a:solidFill>
                  <a:srgbClr val="3FC46A"/>
                </a:solidFill>
                <a:latin typeface="Calibri"/>
                <a:ea typeface="Calibri"/>
                <a:cs typeface="Calibri"/>
              </a:rPr>
              <a:t>Архитектура и этапы реализации</a:t>
            </a:r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268624-91B6-44A5-BBBC-6C9B6AC0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FA39B"/>
                </a:solidFill>
                <a:latin typeface="Calibri"/>
                <a:ea typeface="Calibri"/>
                <a:cs typeface="Calibri"/>
              </a:rPr>
              <a:t>Предложение к обсуждению · август 2026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234967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2E87D0-FAEB-48B9-9330-41C266D0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Что предлагаем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94B7DAD-E248-485C-BD94-9505EA90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Сайт, серверная часть и админка развиваются как одна система, а не как три отдельных проекта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68DF616-77E7-4B3B-9F48-CAC3BE5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383280" cy="329184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BDF48E4-448A-4F82-AF4E-CC369FF7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488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34968-C713-45B4-A5CD-89B82054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488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1A3CF3F-5EC3-4427-A297-D1B6C351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974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Одна платформа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BAFD245-B1F1-4B08-9A3B-B00E9E03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0040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Каталог, заявки, документы и ассистент живут в одном приложении с общими правилами доступа и общим журналом действий.</a:t>
            </a:r>
            <a:endParaRPr sz="13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A0D402F-9DC7-478F-8220-87D0A5CE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828800"/>
            <a:ext cx="3383280" cy="329184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D285409-B518-43DC-B7F5-21DC7009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79E8517-4EC0-4B86-ADD3-2D0033F0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D335A24-3485-4DA5-8BA7-8DEB0FA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974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Контент без разработчика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54AFD09-0F69-42BA-92BA-1D58CF7E0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0040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Сотрудник правит каталог, новости и документы через админку. Сейчас каждая правка — это задача программисту.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930D837-0CC7-4713-9179-C2AD9145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383280" cy="329184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AC6121C-7057-444E-887E-2878A920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88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FDA9AB1-7309-4CB4-9BF9-A3FDED46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88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1427D62-DFE4-43E5-93BA-31CFBC92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9748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Ни одной потерянной заявки</a:t>
            </a:r>
            <a:endParaRPr sz="1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5E4FEFA-E663-4175-9754-B8545996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0040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Обращение фиксируется в базе до того, как уйдёт письмо. Сбой почты или сети не стоит клиента.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7328939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6868FA-8FCD-49FD-B693-981824D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Где мы сейчас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F1D92B3-E06B-437B-8078-A599A49E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Витрина готова, за ней пока пусто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1FA751-895D-4E0D-9A3A-B043A203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257800" cy="356616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BCD5955-9FD3-40F8-83B7-49BD36C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257800" cy="356616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7A5B60-FC35-4F9D-B72F-C0854039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0312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Готово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FEB0A5-7184-44FF-B6B9-38A9B792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06040"/>
            <a:ext cx="4572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Девять экранов сайта в новом дизайне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Каталог первого релиза: 4 изделия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Формы запроса КП, каталога, консультации и сервиса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Виджет ассистента Ведалины на всех страницах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Сайт опубликован и открывается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86151C7-4A48-4EC8-A804-D640901F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Чего не хватает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F71F71A-E852-4568-88E7-B0C0EF71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606040"/>
            <a:ext cx="4572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Каталог и тексты зашиты в код — правка через разработчика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Заявки ещё не передаются в 1С CRM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Документы негде хранить и нечем публиковать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Ассистенту нечем отвечать: нет источника данных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Нет журнала действий и резервных копий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96356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846F8D-35B8-4815-8385-0A914B0B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Как устроен доступ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EE7B0E-B968-41A4-9A72-3E66CDB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Всё, что входит в систему, входит через одну из трёх дверей — проверять безопасность нужно в трёх местах, а не в тридцати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5442F41-287E-4F78-A9DF-2395C24A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3383280" cy="301752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377E79-46A9-4E77-B063-A44E9394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7744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Чтение</a:t>
            </a:r>
            <a:endParaRPr sz="1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2C39235-2D19-4047-8A4B-69AB6EB3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2608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Сайт забирает каталог, новости и документы. Только опубликованное, только на чтение.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7FA3B4D-A4B4-40CB-8565-9A4DB44D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057400"/>
            <a:ext cx="3383280" cy="301752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43D1655-3D3D-4EA8-BEE2-973F0758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37744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Приём заявок</a:t>
            </a:r>
            <a:endParaRPr sz="1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69C41AB-D680-4E26-BC80-9608C86E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92608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Единственное место, где внешний мир пишет данные. Здесь проверка полей, вложений и защита от спама.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2495187-994F-45FE-84B7-12BAAC3A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057400"/>
            <a:ext cx="3383280" cy="301752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56AC8A-D675-4BEE-8637-1958CC74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7744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Админка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3644357-04C6-4E25-B570-BA71A5A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2608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3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Управление контентом и заявками. Вход по паролю и второму фактору, каждое действие в журнале.</a:t>
            </a:r>
            <a:endParaRPr sz="13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9A62AB-B9E0-4586-A3E9-55BB9D30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4924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Админку можно закрыть от интернета целиком — она отделена от публичной части по адресу.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52550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1B06365-23AB-42BA-ADA1-FCB6E368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Почему заявка не теряется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0B6C4F5-95E3-41CC-A08B-701D7BFD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Обращение записывается раньше, чем система пытается что-либо отправить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2CB688-1905-423A-A308-637433D6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94560"/>
            <a:ext cx="23774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243CAF-CF8A-47C6-9BD9-C91F9662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Форма</a:t>
            </a:r>
            <a:endParaRPr sz="17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25B4BAC-02BC-4651-A3E5-2EBE2CC1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3464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Клиент отправляет запрос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F98179D-2635-4DC9-A8C4-6E447179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3063240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EBE402-4080-4034-B612-C3ECFFD2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194560"/>
            <a:ext cx="23774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BD7263B-3CAC-45CA-85E5-ECC985F6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42316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Запись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69A8E0-C8FA-483C-9054-A3B02067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83464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Заявка и задание на письмо сохраняются вместе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B33A41C-16DD-4DCB-A3F7-911815A4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063240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8FF55E4-27F8-452C-A1EE-21FC23E2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94560"/>
            <a:ext cx="23774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E23BF12-7095-4A5A-A3EE-4E668604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2316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Отправка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0598CA-A243-472E-8564-1359DF79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3464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Письмо уходит отдельным шагом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B10E708-4F7B-4FE9-A77C-720BC96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063240"/>
            <a:ext cx="365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F9D615A-F10E-4DE3-B0E1-43B01343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4560"/>
            <a:ext cx="2377440" cy="173736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C5A54FA-F38B-468A-B311-60AE5471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2316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Менеджер / 1С CRM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4ACE047-CF5C-4B60-958D-68208B06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3464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Обращение видно в админке и готово к передаче в 1С CRM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7455B93-3646-42D4-9288-BE6EA0A8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68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50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Если почта или сеть недоступны, заявка уже в базе и уедет позже. Повторная отправка формы не создаёт вторую заявку.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109676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C50465C-070E-4785-B5B7-06B99644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Документы и ассистент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765F05-7882-4671-8A10-9AEF736D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Ассистент отвечает только тем, что вы разрешили опубликовать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1795B5-FB3A-4D43-A484-813B2742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257800" cy="356616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FC57F7-DF31-482A-A319-4710ED9E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257800" cy="356616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17679D-9AE6-4BF1-B64C-0851EA06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0312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Хранение документов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2229EB-88B5-47C4-B3CB-3A12804F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06040"/>
            <a:ext cx="4572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Публичные материалы отдаются быстро и с любого устройства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Закрытые файлы не выдаются напрямую — только ссылка с коротким сроком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Каждая выдача закрытого файла попадает в журнал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Публикация только после явного согласования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AA665BF-59E2-4840-AFE4-C64293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Ассистент Ведалина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1A847E9-88E6-4B7D-90A6-EAEC0AF8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606040"/>
            <a:ext cx="4572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Отвечает по согласованному каталогу и опубликованным документам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 каждому ответу прикладывает ссылку на источник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Не ставит диагнозов и не советует лечение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Не называет цены, сроки и характеристики, которых нет в материалах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Не уверена — передаёт вопрос специалисту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331865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AF5640-20D4-438B-9CEB-B64DBDCA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Надёжность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70B3F8-2F5D-44CC-A57A-77150B01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Что происходит, когда что-то ломается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E57030A-FA87-44DE-ADBF-5566325C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468880" cy="301752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428E85E-1F3E-4173-BB3E-078B1828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Сайт живёт отдельно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83844A-7CCA-45D3-BE10-0B7F6AF3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3240"/>
            <a:ext cx="20116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Страницы собраны заранее. Остановка серверной части не гасит витрину.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860A55A-BECE-45BA-8314-B7F96305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2468880" cy="301752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B003AF-AB88-4EFF-B3D2-436780BE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228600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Возврат к любой минуте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35819A1-1337-4FD2-A98B-B7E96C50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3063240"/>
            <a:ext cx="20116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Копии базы ведутся непрерывно, а не раз в сутки.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06FFCC4-87CB-4435-917C-BAAE5CD0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011680"/>
            <a:ext cx="2468880" cy="301752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D657B4D-DFE8-44BA-A1D0-7626727E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228600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Копия вне площадки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39A7738-8578-4BF6-88EB-49E5F8C8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3063240"/>
            <a:ext cx="20116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Недельная копия хранится в отдельной учётной записи, чтобы пережить потерю доступа.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58628F3-F51F-41C1-9170-F8B5051F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2011680"/>
            <a:ext cx="2468880" cy="301752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E88BA7-4AB0-43FB-B276-71F901B2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286000"/>
            <a:ext cx="2011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Проверка восстановления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168066-6AF0-4688-824B-8237A4EB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3063240"/>
            <a:ext cx="201168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Раз в месяц копия разворачивается и сверяется. Непроверенная копия — не копия.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D3739EF-BDE4-41AD-A473-A8EC4738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Отдельно отслеживается ситуация «система работает, а заявки не уезжают» — это самый незаметный вид отказа.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7915089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15EBFC-2496-4A27-AD1E-6540DE1F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Персональные данные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0F886C-BEF6-4006-A61E-548034D9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Формы собирают имя, телефон и почту — это накладывает обязательства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40F022-8EDF-4FF8-A27F-0CFF7B34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EC2A4E-8431-4563-8309-1844BB79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5A64634-2772-4F12-BD2A-C4F2C2D4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2880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Согласие хранится вместе с текстом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E03A441-9A9A-4380-8326-981856B0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28800"/>
            <a:ext cx="6355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Сохраняем не галочку, а редакцию текста, на которую человек согласился, и время. Иначе через год не доказать, с чем он согласился.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294E007-7535-4D08-94A6-A73784AF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51EB6B9-8249-494C-91DC-C30080A0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2B45281-2BE2-4E4F-A83A-64246CDF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8036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Срок хранения и автоочистка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7DCA5C-6BD1-490E-A3B8-567A8047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880360"/>
            <a:ext cx="6355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Заявки не копятся вечно: по истечении срока данные удаляются без ручной работы.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4A4D790-7B34-4938-BB23-A27EA2C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055FAC5-DD9A-4B1B-9C71-CCBB2F39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1D55F34-A78A-4C11-8571-4F959E0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3192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Удаление по обращению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E7F1401-A465-46CA-AE7B-9C8DE534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931920"/>
            <a:ext cx="6355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Данные конкретного человека удаляются по его запросу.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7E4F70-247A-4E76-A917-059D973B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F820722-75C4-4FA5-8104-9179C0B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5E92436-963B-4D43-BDAF-3BF1A6E3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834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Данные остаются в России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AA9F539-86AF-4851-9913-F7E8A56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983480"/>
            <a:ext cx="63550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Инфраструктура на российской площадке.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286657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B9752D-F794-4643-8598-E7906F58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Этапы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6528DE-2A25-4846-95DD-73FF55E0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От простого к сложному: каждый этап оставляет работающую систему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2B7218-E9D9-4F28-BF17-69E7A27D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7BC1BD9-7D1F-4735-973E-1A6962FB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BD5A6FD-575B-4C0D-A232-9122963A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2880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Каталог и новости</a:t>
            </a:r>
            <a:endParaRPr sz="1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C445AA-6DAF-4ACA-BC91-E3B082D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7178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Контент переезжает из кода в базу. Сотрудник правит сайт сам, без разработчика.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10F0F6-2636-4D59-8DCC-339B39EA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504093-BB03-4E6E-ACA1-D35B310F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6C5E4B5-F361-4152-B947-04813E2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88036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Заявки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1AE04E5-6223-48DD-9369-6BA660F7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80360"/>
            <a:ext cx="7178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Формы начинают работать: обращение попадает в систему, менеджеру на почту и готовится к передаче в 1С CRM.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136EF6D-EACB-46D2-AE60-DAFCC58E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967345-D677-464D-8994-08F87A3C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B5F11C-7020-45CD-B555-C8A57470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3192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Документы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B837A1-F505-44E2-AAC5-96885D4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31920"/>
            <a:ext cx="7178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Хранилище файлов, публикация по согласованию, доступ к закрытым материалам под контролем.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87DD0DB-D832-4D11-8083-6250F26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F1DBB77-A0F5-4E5F-BD92-AED25D1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F85EB8-4367-4697-82B3-DA9D37E2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83480"/>
            <a:ext cx="3291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Ведалина и переезд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1942DBD-0B93-4712-A948-092B84D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83480"/>
            <a:ext cx="71780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Ведалина получает источник данных. Система переезжает на VM с копиями и мониторингом.</a:t>
            </a:r>
            <a:endParaRPr sz="13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1612308-9A0E-460E-A159-440E7947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72200"/>
            <a:ext cx="10881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Сроки уточняются после согласования объёма. Первые два этапа не зависят от закупки инфраструктуры.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512941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CBC608-7725-434F-91A9-0B8CD48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Что нужно от вас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9E74AF-D0D0-4A37-9D33-4480376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Решения и материалы, без которых работа встанет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9011082-C31F-4845-AE60-E559A12C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5257800" cy="356616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E2FC280-5978-4999-A227-8829DF2C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828800"/>
            <a:ext cx="5257800" cy="356616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9741E21-0B29-4A17-8803-CFD615CF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0312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Решения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F42099E-1A50-4BF1-8D86-B1664FFB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606040"/>
            <a:ext cx="4572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Сколько времени допустимо восстанавливать систему после сбоя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Сколько лет храним заявки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Админка доступна из интернета или только из офиса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Кто согласует публикацию документов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CDA596D-D9AB-4F01-992A-7D53248D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0312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Материалы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93CAAA-A745-446C-8656-613FE318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606040"/>
            <a:ext cx="457200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Выверенный перечень изделий с характеристиками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Документы, которые можно публиковать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Фотографии производства и продукции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Рабочие адреса и телефоны отделов</a:t>
            </a:r>
            <a:endParaRPr sz="1400"/>
          </a:p>
          <a:p xmlns:a="http://schemas.openxmlformats.org/drawingml/2006/main"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Тексты новостей и пресс-релизов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635306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3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D10014-302E-46A3-B934-34D0D65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80160" y="2194560"/>
            <a:ext cx="4937760" cy="4937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9C3C">
              <a:alpha val="10000"/>
            </a:srgbClr>
          </a:solidFill>
          <a:ln xmlns:a="http://schemas.openxmlformats.org/drawingml/2006/main" w="12700">
            <a:solidFill>
              <a:srgbClr val="149C3C">
                <a:alpha val="2500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2C94FA-02D9-4BB8-B6DF-4DDA1B22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377440"/>
            <a:ext cx="7315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Следующий шаг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EC0933-2CD1-4ADA-A73C-EB0B01DA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291840"/>
            <a:ext cx="7315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600"/>
              </a:lnSpc>
              <a:buNone/>
            </a:pPr>
            <a:r>
              <a:rPr sz="1700">
                <a:solidFill>
                  <a:srgbClr val="3FC46A"/>
                </a:solidFill>
                <a:latin typeface="Calibri"/>
                <a:ea typeface="Calibri"/>
                <a:cs typeface="Calibri"/>
              </a:rPr>
              <a:t>Согласовать состав и порядок этапов — и начать с каталога: он не требует закупки инфраструктуры и сразу снимает правку сайта с разработчика.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7108684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7227D48-CFF7-49B8-B843-11B8AC86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Техническая схема: путь данных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95E754-CDAB-4E86-BA32-21C8AE77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Слева направо — откуда приходит обращение и где оно оседает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EE4DD4-E5E5-43AD-B0DB-AD4C6194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938528" cy="457200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6587C0-3B64-44FF-8546-809FA7D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17190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Каналы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1037B77-9899-44A5-9303-D67FC477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67128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72ED50-D547-421A-B95C-2A5594AE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2167128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Посетитель</a:t>
            </a:r>
            <a:endParaRPr sz="10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6528978-B5D5-43A9-84A9-1E529EB5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42616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2AF18ED-7FA3-4C22-8016-8BE4F547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2642616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Сотрудник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50ECC36-4FEB-4ED4-9775-4BC919C8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118104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523378F-287F-4FAD-BCAA-AAA9EF0E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118104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Яндекс Форма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C0C24D1-750A-48F0-B01A-4901E115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93592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39FAC83-72EE-40E4-B9D7-D46E972E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59359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Почта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03A80FC-A99F-4D6A-91EF-66294F3D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0592" y="379476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264A9EA-E48D-470D-BCED-157F5891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776" y="1600200"/>
            <a:ext cx="1938528" cy="457200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D52E8CE-0011-4938-A433-5641825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504" y="1737360"/>
            <a:ext cx="17190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Периметр</a:t>
            </a:r>
            <a:endParaRPr sz="13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7AF794F-94C3-4D7F-8C69-C75B0479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167128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B94ADAE-9964-46B0-AD7C-3E591C8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67128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CDN и статика</a:t>
            </a:r>
            <a:endParaRPr sz="10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8FC03A3-0FE2-4252-9AD6-FF26A5AA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642616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519A4B9-9FAB-4646-A7BD-97F17228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2616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Reverse proxy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488C230-3F4D-4A36-B9A1-31483D0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3118104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D8CEB5-DF15-434F-B6EB-F9A54882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18104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WAF</a:t>
            </a:r>
            <a:endParaRPr sz="10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C3E226D-8C1A-4569-B493-B5746A20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79476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81701AC-DFB7-4263-BEC2-84765C6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1600200"/>
            <a:ext cx="1938528" cy="457200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14A39F8-D451-4829-85A7-AB79D53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737360"/>
            <a:ext cx="17190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Приложение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B77C270-9C39-4C1E-9635-0BFE4A14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167128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97519C0-1D70-41F1-A3A8-80F88243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2167128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Public API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F32BC53-779B-4F5C-BE1D-64FADF27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2642616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83DA4AF-0A50-4546-A54E-67F0E634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2642616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Forms API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5882E5A-64EA-4376-92DD-91C5E69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118104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D62DAC3-4E71-4E8F-AB32-909D57B5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118104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Admin UI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E144C78-C8B3-4C16-87BC-2237E50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593592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E5918E1-7D3B-436B-AFAF-3F86EA98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359359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Assistant API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DB7C31E0-7C50-4728-A7C4-2D46EF7F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4069080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C2DCBAC-46A5-4D73-9046-AF10B50C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376" y="406908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Домены и порты</a:t>
            </a:r>
            <a:endParaRPr sz="10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E8866A63-94FC-4ED7-B32D-210ABDDC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744" y="379476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49FBFD0-17EB-42BD-A465-AC32E8B7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1600200"/>
            <a:ext cx="1938528" cy="457200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DFDFB30-436F-4D2E-8FBF-819E1545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1737360"/>
            <a:ext cx="17190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Асинхронно</a:t>
            </a:r>
            <a:endParaRPr sz="13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FEC86B7-01C3-42E5-A0A8-91A38FD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167128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0D67332-6BCA-4C66-8183-89C34273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167128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Outbox</a:t>
            </a:r>
            <a:endParaRPr sz="10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507AFCA-5497-4323-8E35-FFCB1CF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642616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182DFEA1-9FC0-4B26-B919-7EE3FA97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642616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Relay</a:t>
            </a:r>
            <a:endParaRPr sz="10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F2B3D6EE-0AE0-4F83-B5BD-23C78DD0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118104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FEB4907-4A78-478C-9882-32B6F086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118104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Kafka</a:t>
            </a:r>
            <a:endParaRPr sz="10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A9EF262F-77FA-4CCC-A676-BD873043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593592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66E14AB2-0618-42C4-9B9A-D647E5E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359359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Аудит</a:t>
            </a:r>
            <a:endParaRPr sz="105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74DC91FD-C1AA-4C99-A3D0-B5FE01EE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4069080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5F613B18-C1A7-4A62-8CBE-584AB5A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06908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Письма + 1С CRM</a:t>
            </a:r>
            <a:endParaRPr sz="105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4EB30F0-81F7-4047-A240-68306E9E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4544568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C9EFA2F4-AF3E-454C-AAF1-48D3813F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4544568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Индексация</a:t>
            </a:r>
            <a:endParaRPr sz="105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6300C0F6-6D6E-4D4A-8BCD-86424EB3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79476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49C3C"/>
            </a:solidFill>
            <a:prstDash val="solid"/>
            <a:tailEnd type="triangle"/>
          </a:ln>
        </p:spPr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6F5BCD0F-6FC1-4A7E-87E3-C82B81D2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1600200"/>
            <a:ext cx="1938528" cy="457200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A58D430D-7D11-499C-A8F8-4DC91F02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1737360"/>
            <a:ext cx="17190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Хранилища</a:t>
            </a:r>
            <a:endParaRPr sz="135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6B48544B-D760-496B-82BE-110795DC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2167128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779D816-1C6B-48A9-ABC5-ECB34231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2167128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PostgreSQL</a:t>
            </a:r>
            <a:endParaRPr sz="105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5A2F877B-55D4-4BCD-9DFC-B5123436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2642616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C6C9365F-8218-4821-A66E-FA03EAEB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2642616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pgvector</a:t>
            </a:r>
            <a:endParaRPr sz="105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62E0B863-4232-4AF3-80F3-DC9001F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3118104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164C503B-7A3C-4252-9ED1-CE57B507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3118104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S3 публичный</a:t>
            </a:r>
            <a:endParaRPr sz="10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FB8E3105-000A-4178-9A22-2E413D04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4664" y="3593592"/>
            <a:ext cx="1664208" cy="384048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88F4B6C2-A146-4C6E-B0BD-2F0C02F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528" y="3593592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S3 приватный</a:t>
            </a:r>
            <a:endParaRPr sz="1050"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143C4A74-C355-4C59-9D6F-16124159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550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Записи и события фиксируются одной операцией в PostgreSQL, поэтому очередь можно перезапускать без потери обращений.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12638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D98B68F-D8DD-43B6-9F2E-26F1D49C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Техническая схема: внутри приложения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5676F8-2F7E-4AF7-8467-5A8841B8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Одно приложение, модули видят друг друга только через интерфейсы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C495D-18E0-4C7C-A621-FDCDB1FF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Входные адаптеры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B02FAEF-FFF8-4A86-9276-66947E5C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62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E55602-A567-46AC-A8C8-C3D63AC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8562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Public API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9958FFC-B6CE-4EB1-BD85-5EBA041B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8562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B52EB96-62C9-4301-8859-0BD6EE51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18562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Forms API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7A999F6-AFA0-4148-953B-E0E9906B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562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02D71A-87BE-4C4F-9EAC-2F2F598F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8562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Admin UI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DAD285-F104-4EDD-8C59-F69CCD35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8562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FA3BE1E-9C3A-4216-9626-EA80C73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8562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Assistant API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1AF4E57-94FC-4DAF-ADA1-0AE31AF3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Доменные модули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8B1A8E1-0861-4B18-8536-11A26B31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06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4F20D49-F6AA-4C11-B2C6-91B27BC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7706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catalog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77A3A41-5DA9-4817-9E44-5641A384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7706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ABE3254-AF8A-403E-B885-D2C2782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7706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content</a:t>
            </a:r>
            <a:endParaRPr sz="10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7BEE42E-0AB3-4826-B5C3-112DC401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7706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269BB03-6791-43DD-A752-32A6E24A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7706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documents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62FBCEB-CC81-450B-B6B9-517DE4F9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77063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B98890E-DA73-4932-9D16-CBEC55DD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277063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crmClient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2341091-E1DE-4E91-9962-6E91E81D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92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3E14EC1-EBB9-466F-B3CE-4E049740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3192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assistant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2D8F58D-FFA6-4549-8C41-25AB9ED3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192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62D9EAB-3BB9-48EB-95A7-9B7389C0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33192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notifications</a:t>
            </a:r>
            <a:endParaRPr sz="10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270CC61-CAC3-4CA7-9FC1-7BE6AC8E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3192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4765D64-966A-4249-9CA0-CAA0C12F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3192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audit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D9243DC-DE20-4FAC-8A1D-96F9E5FE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3192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31B84EC-09D0-463B-9861-82AC1EC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33192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iam (роли)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C7F1FC3-7FC7-4873-873C-51CDCB17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Порты наружу</a:t>
            </a:r>
            <a:endParaRPr sz="12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2B3608-0DB1-4C1A-9EAC-72EBED53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36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6AAB7B5-37F8-47B0-B2BA-54289090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2336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FileStorage</a:t>
            </a:r>
            <a:endParaRPr sz="10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1E40E52-1CDA-4781-971F-3C55128E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2336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C97017B-AF28-4392-AD7D-9A6A8BFA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42336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MailSender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54CE84C-6C99-47EA-9B04-30DA6678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2336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01796DD-A4E1-4F6D-8BC7-4E341B80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2336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LlmEngine</a:t>
            </a:r>
            <a:endParaRPr sz="105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9D684F2-0BAB-4081-981D-FA86FF46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42336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5A10A96-482B-4A36-823A-A62ACA4D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42336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EventPublisher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E39CAE2-FE4F-442F-9758-E65F2F37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9204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Сквозные механизмы</a:t>
            </a:r>
            <a:endParaRPr sz="12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C77D83D-25E4-483B-8943-7F8ACE77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80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73BD8FA-86D2-40A4-BED0-C9611427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1480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Миграции схемы</a:t>
            </a:r>
            <a:endParaRPr sz="10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21A7BE2-8C60-46C6-B054-37E4B628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1480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76CD893-CF40-470F-AC3A-4AB98BF6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51480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Ключ идемпотентности</a:t>
            </a:r>
            <a:endParaRPr sz="105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9856EB0B-285C-4E39-B391-5B31E347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1480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4CD3AD0-8C68-4C3B-A401-77C83F22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51480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Сквозной id запроса</a:t>
            </a:r>
            <a:endParaRPr sz="10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41FFC0AA-C085-44E6-959C-739AA167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14807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711C85E-7E84-4A4B-A42D-9867E831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514807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Лимит частоты</a:t>
            </a:r>
            <a:endParaRPr sz="10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C984EA94-11A5-4F80-AF7B-CDFFC13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Вынести модуль в отдельный сервис можно, не переписывая соседние: они знают только его интерфейс.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8091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0207E99-1248-4EBD-9CD3-A48E43D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881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2202A"/>
                </a:solidFill>
                <a:latin typeface="Cambria"/>
                <a:ea typeface="Cambria"/>
                <a:cs typeface="Cambria"/>
              </a:rPr>
              <a:t>Техническая схема: конвейер и эксплуатация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DCA9B4-7999-496E-BD8B-0025D01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Как документ попадает к ассистенту и что держит систему в рабочем состоянии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C8851D2-76D7-4CD9-9B03-3CD01DE1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1328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Конвейер Ведалины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1B59B41-A2C2-4DB7-88DD-089A1C04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2029968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DDA82D-CFF7-4498-BE23-C0F9F7E1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73736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Извлечение текста</a:t>
            </a:r>
            <a:endParaRPr sz="10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49B2263-D509-4BDF-816A-4DD03FA5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1737360"/>
            <a:ext cx="2029968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B0C2991-4C42-458C-AAB0-B1E8448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73736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Нарезка на части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79106F-4CA9-48FB-87EA-30536422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1737360"/>
            <a:ext cx="2029968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C11332-B517-46AF-BFE6-07DEE58D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73736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Эмбеддинги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A81A82D-1531-4818-93AC-2F23D9BD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1737360"/>
            <a:ext cx="2029968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D9C0EF3-A2F6-4216-B02B-74BC6459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173736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Векторный индекс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54EED6D-182C-4753-97F7-6CD4FE62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1737360"/>
            <a:ext cx="2029968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2E8"/>
          </a:solidFill>
          <a:ln xmlns:a="http://schemas.openxmlformats.org/drawingml/2006/main" w="12700">
            <a:solidFill>
              <a:srgbClr val="149C3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77B6C6-4144-4D30-8701-49AA20E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173736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Ответ со ссылками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CDA4A50-350F-48E4-BD7A-609934F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260604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6E145CF-38C9-4236-A95B-E8957A28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Бэкапы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6DE56F0-2C5B-4E32-96A5-75E063D8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0"/>
            <a:ext cx="224028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Непрерывные копии базы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Недельная копия вне площадки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Проверка восстановления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96E6B3C-E80D-4B18-8DEB-104A1AC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514600"/>
            <a:ext cx="260604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06400A9-C038-4C88-9A99-2D0BF1DC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9748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Наблюдаемость</a:t>
            </a:r>
            <a:endParaRPr sz="14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D3BEC71-D5F3-4842-A2EA-8CCAC192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08960"/>
            <a:ext cx="224028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Сквозной id в логах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Метрики приложения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Алерт на застрявшие заявки</a:t>
            </a:r>
            <a:endParaRPr sz="11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F1D67B0-0FCD-4E06-A934-0AB463CA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260604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051245C-A8D0-4103-9675-5ECE00F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748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Персональные данные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8AAFF7E-BBE2-46B1-98CC-191AD2E1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8960"/>
            <a:ext cx="224028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Версия текста согласия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Срок хранения и очистка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Удаление по обращению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2B5747B-A642-4E64-BBA9-4D3ADC86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514600"/>
            <a:ext cx="2606040" cy="237744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4F8F6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4EDB13B-AA41-400E-96A5-2A70EE88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9748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9C3C"/>
                </a:solidFill>
                <a:latin typeface="Cambria"/>
                <a:ea typeface="Cambria"/>
                <a:cs typeface="Cambria"/>
              </a:rPr>
              <a:t>Доставка кода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BE06E68-26E8-4C91-85A2-4BE8FE5A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240280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Сборка с тестами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Миграции на старте</a:t>
            </a:r>
            <a:endParaRPr sz="1150"/>
          </a:p>
          <a:p xmlns:a="http://schemas.openxmlformats.org/drawingml/2006/main"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sz="1150">
                <a:solidFill>
                  <a:srgbClr val="3E4E55"/>
                </a:solidFill>
                <a:latin typeface="Calibri"/>
                <a:ea typeface="Calibri"/>
                <a:cs typeface="Calibri"/>
              </a:rPr>
              <a:t>Откат на прошлый образ</a:t>
            </a:r>
            <a:endParaRPr sz="11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01A980C-1DFB-4C15-9247-5C01DFFE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74920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Инфраструктура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62AA2EF9-51A8-4949-A710-D1BBE508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095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69331B4-EC9F-4C0C-AB4F-F20A0B9C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33095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VM с Docker Compose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F86D08A-0221-4FEA-B876-D2896D3B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33095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2B88E1A-68D1-484C-99E1-22CF3895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533095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PostgreSQL в Docker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673CD2B-441D-44E8-AC53-12B2E3DF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33095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FD020EE-16BD-440F-BEE8-24AF55F6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533095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Kafka в Docker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3843C937-D8B1-4497-A7B8-AA385FAE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5330952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5E2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5697F99-F943-428B-9039-348A0B6B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5330952"/>
            <a:ext cx="249631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12202A"/>
                </a:solidFill>
                <a:latin typeface="Calibri"/>
                <a:ea typeface="Calibri"/>
                <a:cs typeface="Calibri"/>
              </a:rPr>
              <a:t>Объектное хранилище</a:t>
            </a:r>
            <a:endParaRPr sz="10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83A6A5B-5C9D-403A-854D-278AA3E0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E6B73"/>
                </a:solidFill>
                <a:latin typeface="Calibri"/>
                <a:ea typeface="Calibri"/>
                <a:cs typeface="Calibri"/>
              </a:rPr>
              <a:t>Рядом — корпоративная почта, аналитика, хранилище секретов и мониторинг. Окружения: рабочее, предпродакшн, внутреннее и лабораторное.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6184769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2026-08-18T11:30:46.7420000Z</dcterms:created>
  <dcterms:modified xsi:type="dcterms:W3CDTF">2026-08-18T11:30:46.7420000Z</dcterms:modified>
</coreProperties>
</file>