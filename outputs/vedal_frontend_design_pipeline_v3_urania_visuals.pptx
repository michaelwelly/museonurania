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41ca85f38f4851" /><Relationship Type="http://schemas.openxmlformats.org/officeDocument/2006/relationships/extended-properties" Target="/docProps/app.xml" Id="R7f77eda9ac574548" /><Relationship Type="http://schemas.openxmlformats.org/officeDocument/2006/relationships/officeDocument" Target="/ppt/presentation.xml" Id="Rca83e17386b840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fd4ece8fa24fc4"/>
  </p:sldMasterIdLst>
  <p:notesMasterIdLst>
    <p:notesMasterId xmlns:r="http://schemas.openxmlformats.org/officeDocument/2006/relationships" r:id="R8bca6f76f3eb4454"/>
  </p:notesMasterIdLst>
  <p:sldIdLst>
    <p:sldId xmlns:r="http://schemas.openxmlformats.org/officeDocument/2006/relationships" id="256" r:id="Rb5d712e4d1054772"/>
    <p:sldId xmlns:r="http://schemas.openxmlformats.org/officeDocument/2006/relationships" id="257" r:id="R5bea346a512749fd"/>
    <p:sldId xmlns:r="http://schemas.openxmlformats.org/officeDocument/2006/relationships" id="258" r:id="R37423a96a103450b"/>
    <p:sldId xmlns:r="http://schemas.openxmlformats.org/officeDocument/2006/relationships" id="259" r:id="R2a04f0ff6c394a70"/>
    <p:sldId xmlns:r="http://schemas.openxmlformats.org/officeDocument/2006/relationships" id="260" r:id="R90b0c8825fbd44cf"/>
    <p:sldId xmlns:r="http://schemas.openxmlformats.org/officeDocument/2006/relationships" id="261" r:id="R0267477566da4022"/>
    <p:sldId xmlns:r="http://schemas.openxmlformats.org/officeDocument/2006/relationships" id="262" r:id="R8ab244c201cb4759"/>
    <p:sldId xmlns:r="http://schemas.openxmlformats.org/officeDocument/2006/relationships" id="263" r:id="R1ccc8810c80e4d98"/>
    <p:sldId xmlns:r="http://schemas.openxmlformats.org/officeDocument/2006/relationships" id="264" r:id="R5eee215d69e64e3f"/>
    <p:sldId xmlns:r="http://schemas.openxmlformats.org/officeDocument/2006/relationships" id="265" r:id="R4a60a91e77394a8b"/>
    <p:sldId xmlns:r="http://schemas.openxmlformats.org/officeDocument/2006/relationships" id="266" r:id="R980ffb5d250f4ad4"/>
    <p:sldId xmlns:r="http://schemas.openxmlformats.org/officeDocument/2006/relationships" id="267" r:id="Rdfcc2e64fb8a47af"/>
    <p:sldId xmlns:r="http://schemas.openxmlformats.org/officeDocument/2006/relationships" id="268" r:id="Rf5800477015b4cdf"/>
    <p:sldId xmlns:r="http://schemas.openxmlformats.org/officeDocument/2006/relationships" id="269" r:id="Rd67a43140b3f41f9"/>
    <p:sldId xmlns:r="http://schemas.openxmlformats.org/officeDocument/2006/relationships" id="270" r:id="R51333a671e064cb8"/>
    <p:sldId xmlns:r="http://schemas.openxmlformats.org/officeDocument/2006/relationships" id="271" r:id="R2ff893c9e0c04eff"/>
    <p:sldId xmlns:r="http://schemas.openxmlformats.org/officeDocument/2006/relationships" id="272" r:id="R84f9b2fbd26a416b"/>
    <p:sldId xmlns:r="http://schemas.openxmlformats.org/officeDocument/2006/relationships" id="273" r:id="R8e3ce04354a643a5"/>
    <p:sldId xmlns:r="http://schemas.openxmlformats.org/officeDocument/2006/relationships" id="274" r:id="Rfe26637600ea485e"/>
    <p:sldId xmlns:r="http://schemas.openxmlformats.org/officeDocument/2006/relationships" id="275" r:id="R1097895b6fd14a28"/>
    <p:sldId xmlns:r="http://schemas.openxmlformats.org/officeDocument/2006/relationships" id="276" r:id="Rfa6a757a5b124cd8"/>
    <p:sldId xmlns:r="http://schemas.openxmlformats.org/officeDocument/2006/relationships" id="277" r:id="R689281e280ec4de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1cdd05f0e34b1e" /><Relationship Type="http://schemas.openxmlformats.org/officeDocument/2006/relationships/slideMaster" Target="/ppt/slideMasters/slideMaster1.xml" Id="R09fd4ece8fa24fc4" /><Relationship Type="http://schemas.openxmlformats.org/officeDocument/2006/relationships/notesMaster" Target="/ppt/notesMasters/notesMaster1.xml" Id="R8bca6f76f3eb4454" /><Relationship Type="http://schemas.openxmlformats.org/officeDocument/2006/relationships/presProps" Target="/ppt/presProps.xml" Id="R6c2ce4bf4e1f47a3" /><Relationship Type="http://schemas.openxmlformats.org/officeDocument/2006/relationships/tableStyles" Target="/ppt/tableStyles.xml" Id="Re90d5867590846b0" /><Relationship Type="http://schemas.openxmlformats.org/officeDocument/2006/relationships/slide" Target="/ppt/slides/slide1.xml" Id="Rb5d712e4d1054772" /><Relationship Type="http://schemas.openxmlformats.org/officeDocument/2006/relationships/slide" Target="/ppt/slides/slide2.xml" Id="R5bea346a512749fd" /><Relationship Type="http://schemas.openxmlformats.org/officeDocument/2006/relationships/slide" Target="/ppt/slides/slide3.xml" Id="R37423a96a103450b" /><Relationship Type="http://schemas.openxmlformats.org/officeDocument/2006/relationships/slide" Target="/ppt/slides/slide4.xml" Id="R2a04f0ff6c394a70" /><Relationship Type="http://schemas.openxmlformats.org/officeDocument/2006/relationships/slide" Target="/ppt/slides/slide5.xml" Id="R90b0c8825fbd44cf" /><Relationship Type="http://schemas.openxmlformats.org/officeDocument/2006/relationships/slide" Target="/ppt/slides/slide6.xml" Id="R0267477566da4022" /><Relationship Type="http://schemas.openxmlformats.org/officeDocument/2006/relationships/slide" Target="/ppt/slides/slide7.xml" Id="R8ab244c201cb4759" /><Relationship Type="http://schemas.openxmlformats.org/officeDocument/2006/relationships/slide" Target="/ppt/slides/slide8.xml" Id="R1ccc8810c80e4d98" /><Relationship Type="http://schemas.openxmlformats.org/officeDocument/2006/relationships/slide" Target="/ppt/slides/slide9.xml" Id="R5eee215d69e64e3f" /><Relationship Type="http://schemas.openxmlformats.org/officeDocument/2006/relationships/slide" Target="/ppt/slides/slide10.xml" Id="R4a60a91e77394a8b" /><Relationship Type="http://schemas.openxmlformats.org/officeDocument/2006/relationships/slide" Target="/ppt/slides/slide11.xml" Id="R980ffb5d250f4ad4" /><Relationship Type="http://schemas.openxmlformats.org/officeDocument/2006/relationships/slide" Target="/ppt/slides/slide12.xml" Id="Rdfcc2e64fb8a47af" /><Relationship Type="http://schemas.openxmlformats.org/officeDocument/2006/relationships/slide" Target="/ppt/slides/slide13.xml" Id="Rf5800477015b4cdf" /><Relationship Type="http://schemas.openxmlformats.org/officeDocument/2006/relationships/slide" Target="/ppt/slides/slide14.xml" Id="Rd67a43140b3f41f9" /><Relationship Type="http://schemas.openxmlformats.org/officeDocument/2006/relationships/slide" Target="/ppt/slides/slide15.xml" Id="R51333a671e064cb8" /><Relationship Type="http://schemas.openxmlformats.org/officeDocument/2006/relationships/slide" Target="/ppt/slides/slide16.xml" Id="R2ff893c9e0c04eff" /><Relationship Type="http://schemas.openxmlformats.org/officeDocument/2006/relationships/slide" Target="/ppt/slides/slide17.xml" Id="R84f9b2fbd26a416b" /><Relationship Type="http://schemas.openxmlformats.org/officeDocument/2006/relationships/slide" Target="/ppt/slides/slide18.xml" Id="R8e3ce04354a643a5" /><Relationship Type="http://schemas.openxmlformats.org/officeDocument/2006/relationships/slide" Target="/ppt/slides/slide19.xml" Id="Rfe26637600ea485e" /><Relationship Type="http://schemas.openxmlformats.org/officeDocument/2006/relationships/slide" Target="/ppt/slides/slide20.xml" Id="R1097895b6fd14a28" /><Relationship Type="http://schemas.openxmlformats.org/officeDocument/2006/relationships/slide" Target="/ppt/slides/slide21.xml" Id="Rfa6a757a5b124cd8" /><Relationship Type="http://schemas.openxmlformats.org/officeDocument/2006/relationships/slide" Target="/ppt/slides/slide22.xml" Id="R689281e280ec4d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8a8ab7437a42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f63e0b20654af2" /><Relationship Type="http://schemas.openxmlformats.org/officeDocument/2006/relationships/notesMaster" Target="/ppt/notesMasters/notesMaster1.xml" Id="Rd0620c854cf64b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aceea06d3c4fda" /><Relationship Type="http://schemas.openxmlformats.org/officeDocument/2006/relationships/notesMaster" Target="/ppt/notesMasters/notesMaster1.xml" Id="R3aa494279f1744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ea97b4f43247c2" /><Relationship Type="http://schemas.openxmlformats.org/officeDocument/2006/relationships/notesMaster" Target="/ppt/notesMasters/notesMaster1.xml" Id="Rdf0b9614722b43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f5242143d4439b" /><Relationship Type="http://schemas.openxmlformats.org/officeDocument/2006/relationships/notesMaster" Target="/ppt/notesMasters/notesMaster1.xml" Id="Re3b9e3c1fb6143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242d1628f4463d" /><Relationship Type="http://schemas.openxmlformats.org/officeDocument/2006/relationships/notesMaster" Target="/ppt/notesMasters/notesMaster1.xml" Id="R0d9d8d407efc40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c90d7866ee4550" /><Relationship Type="http://schemas.openxmlformats.org/officeDocument/2006/relationships/notesMaster" Target="/ppt/notesMasters/notesMaster1.xml" Id="R1e03b4af288549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4710c83c1e48ae" /><Relationship Type="http://schemas.openxmlformats.org/officeDocument/2006/relationships/notesMaster" Target="/ppt/notesMasters/notesMaster1.xml" Id="Rdb6f19434aa24e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da005a5aec475a" /><Relationship Type="http://schemas.openxmlformats.org/officeDocument/2006/relationships/notesMaster" Target="/ppt/notesMasters/notesMaster1.xml" Id="Ra6aab074135442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5df55f7ba14777" /><Relationship Type="http://schemas.openxmlformats.org/officeDocument/2006/relationships/notesMaster" Target="/ppt/notesMasters/notesMaster1.xml" Id="Rad9b1e43477045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cf133bd98c4278" /><Relationship Type="http://schemas.openxmlformats.org/officeDocument/2006/relationships/notesMaster" Target="/ppt/notesMasters/notesMaster1.xml" Id="R64dc327eb28844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6e30010dda4468" /><Relationship Type="http://schemas.openxmlformats.org/officeDocument/2006/relationships/notesMaster" Target="/ppt/notesMasters/notesMaster1.xml" Id="R2816b28f441e4c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ae8a4629c64c6d" /><Relationship Type="http://schemas.openxmlformats.org/officeDocument/2006/relationships/notesMaster" Target="/ppt/notesMasters/notesMaster1.xml" Id="R31b1cac325bb415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36dac669864e55" /><Relationship Type="http://schemas.openxmlformats.org/officeDocument/2006/relationships/notesMaster" Target="/ppt/notesMasters/notesMaster1.xml" Id="R85cf5e1f35c34b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160a7fd1c0c4f15" /><Relationship Type="http://schemas.openxmlformats.org/officeDocument/2006/relationships/notesMaster" Target="/ppt/notesMasters/notesMaster1.xml" Id="R5658012daf34466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f9f9a313e64a92" /><Relationship Type="http://schemas.openxmlformats.org/officeDocument/2006/relationships/notesMaster" Target="/ppt/notesMasters/notesMaster1.xml" Id="Red0e4b43edfe4a9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48669c0b5194733" /><Relationship Type="http://schemas.openxmlformats.org/officeDocument/2006/relationships/notesMaster" Target="/ppt/notesMasters/notesMaster1.xml" Id="R2ef039b2307c440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f56f234536742fb" /><Relationship Type="http://schemas.openxmlformats.org/officeDocument/2006/relationships/notesMaster" Target="/ppt/notesMasters/notesMaster1.xml" Id="R1286ad3fc2a1484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ff61f9296ec461e" /><Relationship Type="http://schemas.openxmlformats.org/officeDocument/2006/relationships/notesMaster" Target="/ppt/notesMasters/notesMaster1.xml" Id="R1fcdbcfd96ab4fc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d0e9c8ff71f4062" /><Relationship Type="http://schemas.openxmlformats.org/officeDocument/2006/relationships/notesMaster" Target="/ppt/notesMasters/notesMaster1.xml" Id="R592e6c3adadc4e3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aa49ba8b4524150" /><Relationship Type="http://schemas.openxmlformats.org/officeDocument/2006/relationships/notesMaster" Target="/ppt/notesMasters/notesMaster1.xml" Id="Rfba27bda594b4f7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2f55566085d45a8" /><Relationship Type="http://schemas.openxmlformats.org/officeDocument/2006/relationships/notesMaster" Target="/ppt/notesMasters/notesMaster1.xml" Id="R90c9ca9500b8413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6797f18b37243ed" /><Relationship Type="http://schemas.openxmlformats.org/officeDocument/2006/relationships/notesMaster" Target="/ppt/notesMasters/notesMaster1.xml" Id="R018644b87f914e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abc644668f4c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a3d64be25e4071" /><Relationship Type="http://schemas.openxmlformats.org/officeDocument/2006/relationships/slideLayout" Target="/ppt/slideLayouts/slideLayout1.xml" Id="Rfbec5cc21a1640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ec5cc21a1640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1271c9a9e4a66" /><Relationship Type="http://schemas.openxmlformats.org/officeDocument/2006/relationships/image" Target="/ppt/media/image.jpeg" Id="R4fb17e452cab423d" /><Relationship Type="http://schemas.openxmlformats.org/officeDocument/2006/relationships/image" Target="/ppt/media/image.png" Id="R9c1d5a8a3075460c" /><Relationship Type="http://schemas.openxmlformats.org/officeDocument/2006/relationships/image" Target="/ppt/media/image2.png" Id="R46bc8e4f17654abf" /><Relationship Type="http://schemas.openxmlformats.org/officeDocument/2006/relationships/notesSlide" Target="/ppt/notesSlides/notesSlide1.xml" Id="R65dd89b7640644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2c901c7ad4d99" /><Relationship Type="http://schemas.openxmlformats.org/officeDocument/2006/relationships/notesSlide" Target="/ppt/notesSlides/notesSlide2.xml" Id="Rbce1006cf9384d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d5d3ee0de4340" /><Relationship Type="http://schemas.openxmlformats.org/officeDocument/2006/relationships/image" Target="/ppt/media/image2.jpeg" Id="Rd832f74b5b734c8b" /><Relationship Type="http://schemas.openxmlformats.org/officeDocument/2006/relationships/image" Target="/ppt/media/image3.jpeg" Id="R788e1cf72284459d" /><Relationship Type="http://schemas.openxmlformats.org/officeDocument/2006/relationships/notesSlide" Target="/ppt/notesSlides/notesSlide3.xml" Id="R0837d55be78945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aa8c41dfe485b" /><Relationship Type="http://schemas.openxmlformats.org/officeDocument/2006/relationships/image" Target="/ppt/media/image3.png" Id="R11a7aacc84d4464d" /><Relationship Type="http://schemas.openxmlformats.org/officeDocument/2006/relationships/notesSlide" Target="/ppt/notesSlides/notesSlide4.xml" Id="Re9c6374af67847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d18ce44ee4a72" /><Relationship Type="http://schemas.openxmlformats.org/officeDocument/2006/relationships/notesSlide" Target="/ppt/notesSlides/notesSlide5.xml" Id="Rc633e669e57540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f9f03fee64e5d" /><Relationship Type="http://schemas.openxmlformats.org/officeDocument/2006/relationships/image" Target="/ppt/media/image4.png" Id="R95b2412c23614238" /><Relationship Type="http://schemas.openxmlformats.org/officeDocument/2006/relationships/notesSlide" Target="/ppt/notesSlides/notesSlide6.xml" Id="R594a54cc565342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703e1f3904cd8" /><Relationship Type="http://schemas.openxmlformats.org/officeDocument/2006/relationships/image" Target="/ppt/media/image5.png" Id="R7adcc3b34a884f98" /><Relationship Type="http://schemas.openxmlformats.org/officeDocument/2006/relationships/notesSlide" Target="/ppt/notesSlides/notesSlide7.xml" Id="R7ba2ee6338ef4c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34c63613e48df" /><Relationship Type="http://schemas.openxmlformats.org/officeDocument/2006/relationships/notesSlide" Target="/ppt/notesSlides/notesSlide8.xml" Id="Rc7051b8218904d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e9b06bcb24ab0" /><Relationship Type="http://schemas.openxmlformats.org/officeDocument/2006/relationships/notesSlide" Target="/ppt/notesSlides/notesSlide9.xml" Id="Rf25b2b0473df4e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e4df9fb704493" /><Relationship Type="http://schemas.openxmlformats.org/officeDocument/2006/relationships/notesSlide" Target="/ppt/notesSlides/notesSlide10.xml" Id="Re7bcbdc81e4543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1d55ff73e4f8e" /><Relationship Type="http://schemas.openxmlformats.org/officeDocument/2006/relationships/image" Target="/ppt/media/image4.jpeg" Id="Rb852e449cde141c8" /><Relationship Type="http://schemas.openxmlformats.org/officeDocument/2006/relationships/notesSlide" Target="/ppt/notesSlides/notesSlide11.xml" Id="R2fe8d0e1cab048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1e849b2704e11" /><Relationship Type="http://schemas.openxmlformats.org/officeDocument/2006/relationships/notesSlide" Target="/ppt/notesSlides/notesSlide12.xml" Id="Rf64d0dd3f00941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7d6da81254fc6" /><Relationship Type="http://schemas.openxmlformats.org/officeDocument/2006/relationships/notesSlide" Target="/ppt/notesSlides/notesSlide13.xml" Id="Rec48d41e9bb24c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126bf186c41ac" /><Relationship Type="http://schemas.openxmlformats.org/officeDocument/2006/relationships/notesSlide" Target="/ppt/notesSlides/notesSlide14.xml" Id="R6f0452e7e540436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6badb057541ca" /><Relationship Type="http://schemas.openxmlformats.org/officeDocument/2006/relationships/notesSlide" Target="/ppt/notesSlides/notesSlide15.xml" Id="Reee3bb6fb49843e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b55a3499140ea" /><Relationship Type="http://schemas.openxmlformats.org/officeDocument/2006/relationships/image" Target="/ppt/media/image6.png" Id="R0b02bac3930f488a" /><Relationship Type="http://schemas.openxmlformats.org/officeDocument/2006/relationships/notesSlide" Target="/ppt/notesSlides/notesSlide16.xml" Id="R793ed9af1c1844a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ff78e50b84ae0" /><Relationship Type="http://schemas.openxmlformats.org/officeDocument/2006/relationships/image" Target="/ppt/media/image7.png" Id="Racaa5d5a704e4a6b" /><Relationship Type="http://schemas.openxmlformats.org/officeDocument/2006/relationships/image" Target="/ppt/media/image8.png" Id="Rf7eb6b943a414e4e" /><Relationship Type="http://schemas.openxmlformats.org/officeDocument/2006/relationships/image" Target="/ppt/media/image9.png" Id="R5a4f0c358c0f4115" /><Relationship Type="http://schemas.openxmlformats.org/officeDocument/2006/relationships/notesSlide" Target="/ppt/notesSlides/notesSlide17.xml" Id="R64869bb6bc814e7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276d5a8004edf" /><Relationship Type="http://schemas.openxmlformats.org/officeDocument/2006/relationships/notesSlide" Target="/ppt/notesSlides/notesSlide18.xml" Id="Ra061b546c3224be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008e1031d4a9c" /><Relationship Type="http://schemas.openxmlformats.org/officeDocument/2006/relationships/notesSlide" Target="/ppt/notesSlides/notesSlide19.xml" Id="R1c0d52fdcb4b4d6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dc06a7bf343cb" /><Relationship Type="http://schemas.openxmlformats.org/officeDocument/2006/relationships/notesSlide" Target="/ppt/notesSlides/notesSlide20.xml" Id="R4d9f179afe804a8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7794bc5e84073" /><Relationship Type="http://schemas.openxmlformats.org/officeDocument/2006/relationships/notesSlide" Target="/ppt/notesSlides/notesSlide21.xml" Id="Ra3741ada208247a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ebb39714f4eca" /><Relationship Type="http://schemas.openxmlformats.org/officeDocument/2006/relationships/notesSlide" Target="/ppt/notesSlides/notesSlide22.xml" Id="Ref1360d33f6b47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1D63CC-3534-4662-BCDE-B4B46E09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0"/>
            <a:ext cx="5295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17e452cab423d"/>
          <a:srcRect xmlns:a="http://schemas.openxmlformats.org/drawingml/2006/main" l="24304" t="0" r="243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0"/>
            <a:ext cx="52959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71E4D-5F93-453E-8B9D-AC81398F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0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1d5a8a3075460c"/>
          <a:stretch xmlns:a="http://schemas.openxmlformats.org/drawingml/2006/main"/>
        </p:blipFill>
        <p:spPr>
          <a:xfrm xmlns:a="http://schemas.openxmlformats.org/drawingml/2006/main">
            <a:off x="1009864" y="457200"/>
            <a:ext cx="856822" cy="5715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c8e4f17654abf"/>
          <a:stretch xmlns:a="http://schemas.openxmlformats.org/drawingml/2006/main"/>
        </p:blipFill>
        <p:spPr>
          <a:xfrm xmlns:a="http://schemas.openxmlformats.org/drawingml/2006/main">
            <a:off x="2990850" y="381953"/>
            <a:ext cx="3143250" cy="81724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0DC91-BCC5-4B91-85DD-02096A9F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619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Сначала готовим дизайн и фронтенд сайта VEDAL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C21B06-0595-414F-A7CE-B4EBB88D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5B5B"/>
                </a:solidFill>
              </a:defRPr>
            </a:pPr>
            <a:r>
              <a:rPr sz="1575" b="0">
                <a:solidFill>
                  <a:srgbClr val="5B5B5B"/>
                </a:solidFill>
              </a:rPr>
              <a:t>Консервативная презентация для проверки НН: что попадёт в первую версию сайта, какие ответы нужны и где подключается Smart Solution.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80C14-4196-40C1-88E5-709B7941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5B5B"/>
                </a:solidFill>
              </a:defRPr>
            </a:pPr>
            <a:r>
              <a:rPr sz="1200" b="1">
                <a:solidFill>
                  <a:srgbClr val="5B5B5B"/>
                </a:solidFill>
              </a:rPr>
              <a:t>Черновик PowerPoint v3 / 23 июля 2026</a:t>
            </a:r>
          </a:p>
        </p:txBody>
      </p:sp>
    </p:spTree>
    <p:extLst>
      <p:ext uri="{BB962C8B-B14F-4D97-AF65-F5344CB8AC3E}">
        <p14:creationId xmlns:p14="http://schemas.microsoft.com/office/powerpoint/2010/main" val="4369494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35E249-DA37-41E9-BDBA-16944050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VEDAL / дизайн-пайплайн сайта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3110D-385B-4E81-A755-04CD8130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191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Фокус ближайших дней — сайт, а не вся инфраструктура сразу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56191-267B-4F04-8E28-A174B405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5B5B"/>
                </a:solidFill>
              </a:defRPr>
            </a:pPr>
            <a:r>
              <a:rPr sz="1500" b="0">
                <a:solidFill>
                  <a:srgbClr val="5B5B5B"/>
                </a:solidFill>
              </a:rPr>
              <a:t>Инфраструктуру, CRM и AI фиксируем как дорожную карту, но первый deliverable — пакет для дизайна и фронтенда.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CB2E1-3C86-4318-8AB2-05C52326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9334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E7840-F6E0-4831-87EE-47165261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Шаг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20B94-799C-4070-869C-492068B3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0510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Что делаем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B4848-27A9-4D76-BD1D-C9750083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0510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Зачем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E60DA-60BB-4AC2-8E1C-72CFFD29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9334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41433-F374-4448-8F0B-3A4E74B5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0214B-41ED-47F5-8F37-8C892686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194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Собрать структуру страниц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0367F-FBA9-41E7-8DC9-E2DCDC3F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1945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что показываем в первом релизе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7E12D0-F638-4C6C-926D-CE9257C7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0450"/>
            <a:ext cx="9334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1D14B-ED71-465C-B00A-F8478457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B4E89B-B9A3-4913-BCFA-73059B71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3380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Подготовить поля ответов НН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36DB34-0127-445B-AA94-ADD38172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3380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что ждём для текстов и карточек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C629F-4A7E-463B-9812-90417F3B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9334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A45840-37B1-44E5-B4B9-DEA3E049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9A5515-BCDD-477C-A082-579B3277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481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Предложить 3 фронтенд-варианта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09D32C-0EA1-4B57-AD91-E9F69A5D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4815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консервативный, продуктовый, экспертный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1F3DEB-2AF1-4AE7-9E07-620940C3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9334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6986D6-71FC-4EA0-B1F5-AAD81BB5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275EFF-C97D-4E2E-813D-5A02C613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6250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Отдать Claude/верстальщику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B84440-C14B-4017-9C0A-D048B26F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6250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страницы, мета, контент, правила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DA3F81-98CD-43D8-AC9F-251F3169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9334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3FDC5C-C911-45A3-B61D-CECBE032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3520F2-AE0D-4A67-BECD-91730447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768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Подключить Smart Solution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4E55C8-7372-4A59-AC5C-9D0120D1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7685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интеграционный слой для сайта, CRM/S3 и AI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947358-2BAD-4F36-8715-98812883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D4B"/>
                </a:solidFill>
              </a:defRPr>
            </a:pPr>
            <a:r>
              <a:rPr sz="1575" b="1">
                <a:solidFill>
                  <a:srgbClr val="0B5D4B"/>
                </a:solidFill>
              </a:rPr>
              <a:t>Остальное не теряем: S3, CRM, закрытый контур, LLM/VLM идут после согласования сайта и контента.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2C0ED7-73D2-469D-93E5-19753E18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C07943-7298-45D4-8D82-A7A6DBFE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B5B"/>
                </a:solidFill>
              </a:defRPr>
            </a:pPr>
            <a:r>
              <a:rPr sz="825" b="0">
                <a:solidFill>
                  <a:srgbClr val="5B5B5B"/>
                </a:solidFill>
              </a:rPr>
              <a:t>v3: Urania визуализирована как аватар и web-assistant в hero.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61F184-A1FD-4832-BB46-729B2409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25983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8AE0C6-FDB6-4D4B-9CF4-AF8E3645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VEDAL / дизайн-пайплайн сайта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22E20-BB21-4DF1-BB19-C11E1CA6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191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Текущий сайт даёт основу, но не готов как полноценный B2B-каталог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2f74b5b734c8b"/>
          <a:srcRect xmlns:a="http://schemas.openxmlformats.org/drawingml/2006/main" l="0" t="19118" r="0" b="191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1257300"/>
            <a:ext cx="3238500" cy="200025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e1cf72284459d"/>
          <a:srcRect xmlns:a="http://schemas.openxmlformats.org/drawingml/2006/main" l="0" t="19118" r="0" b="191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3505200"/>
            <a:ext cx="3238500" cy="2000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DE04C-1317-464A-B73A-B598F18C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812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D4B"/>
                </a:solidFill>
              </a:defRPr>
            </a:pPr>
            <a:r>
              <a:rPr sz="975" b="1">
                <a:solidFill>
                  <a:srgbClr val="0B5D4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FCEEF-23B9-4C49-A34E-87F93A3D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588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Есть позиционирование производителя и базовые страницы.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F9466-C4E0-404A-B2B1-79D85567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146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D4B"/>
                </a:solidFill>
              </a:defRPr>
            </a:pPr>
            <a:r>
              <a:rPr sz="975" b="1">
                <a:solidFill>
                  <a:srgbClr val="0B5D4B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78109-FA3C-4A18-9451-7BFD9A4E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588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Есть продуктовые направления, но нет сильных карточек продаж.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9D36C-7514-43C5-A893-708F7C0E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480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D4B"/>
                </a:solidFill>
              </a:defRPr>
            </a:pPr>
            <a:r>
              <a:rPr sz="975" b="1">
                <a:solidFill>
                  <a:srgbClr val="0B5D4B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BCF8F9-D13F-4897-AAE1-06451839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588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Нужны документы, CTA, SEO-структура и медиа-хранилище.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0E3C2-C6E2-4DC5-82C1-320B1539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814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D4B"/>
                </a:solidFill>
              </a:defRPr>
            </a:pPr>
            <a:r>
              <a:rPr sz="975" b="1">
                <a:solidFill>
                  <a:srgbClr val="0B5D4B"/>
                </a:solidFill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B3B6E2-45CC-4A6B-AF19-D9E847B2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588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Список продуктов надо сверить с официальным каталогом.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D700A-C013-490E-8904-EF4B10BC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5ADCC-C34D-4BD3-91EA-11CD49E0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B5B"/>
                </a:solidFill>
              </a:defRPr>
            </a:pPr>
            <a:r>
              <a:rPr sz="825" b="0">
                <a:solidFill>
                  <a:srgbClr val="5B5B5B"/>
                </a:solidFill>
              </a:rPr>
              <a:t>v3: Urania визуализирована как аватар и web-assistant в hero.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0B4F53-F9D2-477C-930B-68C57C58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601663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A404BC-5F7B-4F42-B182-6770F554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VEDAL / дизайн-пайплайн сайта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2063D-5D83-4FCA-A9DE-D6126902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191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Титульную страницу нужно пересобрать с местом для Urania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CF461-2325-4377-BF84-F85BED57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5B5B"/>
                </a:solidFill>
              </a:defRPr>
            </a:pPr>
            <a:r>
              <a:rPr sz="1500" b="0">
                <a:solidFill>
                  <a:srgbClr val="5B5B5B"/>
                </a:solidFill>
              </a:rPr>
              <a:t>Hero должен продавать производство и продукцию, а ассистент помогает посетителю быстро выбрать следующий шаг.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7aacc84d4464d"/>
          <a:srcRect xmlns:a="http://schemas.openxmlformats.org/drawingml/2006/main" l="0" t="53" r="0" b="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2381250"/>
            <a:ext cx="4000500" cy="2247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765B5-C203-4CBD-B60F-15AD03C6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57750"/>
            <a:ext cx="3200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73737-8EE7-4DE9-A094-0993250F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101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5D4B"/>
                </a:solidFill>
              </a:defRPr>
            </a:pPr>
            <a:r>
              <a:rPr sz="1425" b="1">
                <a:solidFill>
                  <a:srgbClr val="0B5D4B"/>
                </a:solidFill>
              </a:rPr>
              <a:t>Urania assistant slot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3321F-6EC9-4298-BCF5-0CF01A51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14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Спросите Urania о продукции, документах или сервисе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CE859-A4D5-4EB0-A92C-ADD2FB9C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384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D4B"/>
                </a:solidFill>
              </a:defRPr>
            </a:pPr>
            <a:r>
              <a:rPr sz="975" b="1">
                <a:solidFill>
                  <a:srgbClr val="0B5D4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7877B-814C-4B58-801F-6EF45BEC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541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Сильнее вывести продукцию и производство в первый экран.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58EF6-C36A-4887-9155-1C961827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718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D4B"/>
                </a:solidFill>
              </a:defRPr>
            </a:pPr>
            <a:r>
              <a:rPr sz="975" b="1">
                <a:solidFill>
                  <a:srgbClr val="0B5D4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0D8DE-C880-4ECC-B479-50D9FA52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541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Добавить CTA: запросить КП и открыть каталог.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FE8B3-EE2C-4FA5-913A-B7A634F9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052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D4B"/>
                </a:solidFill>
              </a:defRPr>
            </a:pPr>
            <a:r>
              <a:rPr sz="975" b="1">
                <a:solidFill>
                  <a:srgbClr val="0B5D4B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48E891-671D-4A16-ABBE-434CA493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541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Заложить место под ассистента Urania без перегруза hero.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3FEB18-54F6-4B81-896F-5DED8882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386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D4B"/>
                </a:solidFill>
              </a:defRPr>
            </a:pPr>
            <a:r>
              <a:rPr sz="975" b="1">
                <a:solidFill>
                  <a:srgbClr val="0B5D4B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2ED095-9558-469B-8096-B6E94A97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541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Сохранить строгий B2B-тон медицинского производителя.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4AEDE-921D-4293-823A-28B508A5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B645D-C4DB-495C-BD6D-0F35B98C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B5B"/>
                </a:solidFill>
              </a:defRPr>
            </a:pPr>
            <a:r>
              <a:rPr sz="825" b="0">
                <a:solidFill>
                  <a:srgbClr val="5B5B5B"/>
                </a:solidFill>
              </a:rPr>
              <a:t>v3: Urania визуализирована как аватар и web-assistant в hero.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00AF4-09EC-4A03-B69D-6A347537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82301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2CEF9B-0BD7-4486-9982-DBF690B5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VEDAL / дизайн-пайплайн сайта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8605E-F0C6-4AAF-B326-1ECDF432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191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Urania: образ ассистента для запросов пользователей сайта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C5D25-D972-4223-98BA-ECCF9BE0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5B5B"/>
                </a:solidFill>
              </a:defRPr>
            </a:pPr>
            <a:r>
              <a:rPr sz="1500" b="0">
                <a:solidFill>
                  <a:srgbClr val="5B5B5B"/>
                </a:solidFill>
              </a:rPr>
              <a:t>Образ берём от музы астрономии: точность, навигация, карта знаний, небесный глобус и циркуль.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AA301-4819-48A4-9EB9-ECA9214E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7048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82051-2666-4929-A5E9-AAD80D7B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Блок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BDABA-DEAB-4725-BC63-AF575C39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7650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Требование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28C72-5F80-4C1D-A3A3-1B4D7825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7048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FDAE0-6A62-4E37-A087-D91AF8FB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08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Образ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20886-48DC-4DB5-BA03-9D4F1D47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9085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спокойная женская персона, не “врач”, а проводник по знаниям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216AA-7690-4B33-872E-183CD6B6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7048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D393F8-D66A-4C6E-A482-93B7A69B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052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Визуальные мотивы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3CCAA-27EA-4323-9972-9DC5D4A0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0520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звёздная карта, небесный глобус, циркуль, зелёно-бирюзовые акценты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32E7E-908C-4721-B321-C0C3AFC5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7048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5CAD23-7206-40F8-BC2C-43B58426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Что отвечает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6AD1D6-1250-4D7C-8FEE-E25E5F3A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1955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продукты, документы, КП, каталог, сервис, контакты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569DB-D6A2-42E3-884E-23715AF7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7048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B4BC9F-2017-4035-86DD-1CC81ED8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Ограничения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E0D65B-B3D0-47F9-8DE2-58DFB676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3390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без диагнозов, лечения, выдуманных цен, сроков и сертификатов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25342B-44EA-4466-8027-9B5411DE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8612E3-F624-4F70-893E-D2A66283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5D4B"/>
                </a:solidFill>
              </a:defRPr>
            </a:pPr>
            <a:r>
              <a:rPr sz="2550" b="1">
                <a:solidFill>
                  <a:srgbClr val="0B5D4B"/>
                </a:solidFill>
              </a:rPr>
              <a:t>Urania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9BADE8-A962-47D5-8ECB-5A8C19D4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муза навигации по продуктам и документам VEDAL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761F2A-938F-451A-9760-E5DF2619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53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Источник образа: Wikipedia, Urania / Урания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689A2F-63E0-4A95-969A-27934EF7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D20DC2-E1E8-4812-81DD-28B15EAF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B5B"/>
                </a:solidFill>
              </a:defRPr>
            </a:pPr>
            <a:r>
              <a:rPr sz="825" b="0">
                <a:solidFill>
                  <a:srgbClr val="5B5B5B"/>
                </a:solidFill>
              </a:rPr>
              <a:t>v3: Urania визуализирована как аватар и web-assistant в hero.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C77086-E9FB-4899-BEB7-6BFDCE24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05928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92D564-0600-4568-939B-C6268918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VEDAL / дизайн-пайплайн сайта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7D399-DE28-42CD-B65C-3A263F32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191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Аватары Urania: выбираем степень персонификации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EEDBD-46A3-418C-A6D1-C6E6F661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5B5B"/>
                </a:solidFill>
              </a:defRPr>
            </a:pPr>
            <a:r>
              <a:rPr sz="1500" b="0">
                <a:solidFill>
                  <a:srgbClr val="5B5B5B"/>
                </a:solidFill>
              </a:rPr>
              <a:t>Три направления дают НН выбор: ближе к медицине, ближе к спокойному ассистенту или ближе к образу музы астрономии.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2412c23614238"/>
          <a:stretch xmlns:a="http://schemas.openxmlformats.org/drawingml/2006/main"/>
        </p:blipFill>
        <p:spPr>
          <a:xfrm xmlns:a="http://schemas.openxmlformats.org/drawingml/2006/main">
            <a:off x="857250" y="2476500"/>
            <a:ext cx="6858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79DC5-714F-45CA-B144-AEFBF881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571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05481-197E-425C-9348-5AE5E893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5D4B"/>
                </a:solidFill>
              </a:defRPr>
            </a:pPr>
            <a:r>
              <a:rPr sz="1650" b="1">
                <a:solidFill>
                  <a:srgbClr val="0B5D4B"/>
                </a:solidFill>
              </a:rPr>
              <a:t>Рекомендация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623BE-1DFC-47EA-90E9-F76F912D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Средний аватар: спокойный навигационный ассистент, не врач.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4463E-1123-4390-9536-3E3CB87B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52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После ответа НН фиксируем avatar_id.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8470C-49F4-42BD-800D-8794480E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543CC-9C9A-4662-BA1B-0D80C02C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B5B"/>
                </a:solidFill>
              </a:defRPr>
            </a:pPr>
            <a:r>
              <a:rPr sz="825" b="0">
                <a:solidFill>
                  <a:srgbClr val="5B5B5B"/>
                </a:solidFill>
              </a:rPr>
              <a:t>v3: Urania визуализирована как аватар и web-assistant в hero.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031822-DDDC-4945-9786-00FE74BB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994216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69E077-7935-4BCD-BC15-AF7D5A2D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VEDAL / дизайн-пайплайн сайта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41E95-A5AD-49AE-B6AD-F3D0300F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191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Urania в веб-интерфейсе: hero, чат и быстрые действия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8E701-7970-4F4B-9091-03EB2005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5B5B"/>
                </a:solidFill>
              </a:defRPr>
            </a:pPr>
            <a:r>
              <a:rPr sz="1500" b="0">
                <a:solidFill>
                  <a:srgbClr val="5B5B5B"/>
                </a:solidFill>
              </a:rPr>
              <a:t>Концепт показывает место ассистента, но финальный UI должен быть пересобран кодом без AI-артефактов в тексте.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dcc3b34a884f98"/>
          <a:stretch xmlns:a="http://schemas.openxmlformats.org/drawingml/2006/main"/>
        </p:blipFill>
        <p:spPr>
          <a:xfrm xmlns:a="http://schemas.openxmlformats.org/drawingml/2006/main">
            <a:off x="1159499" y="2609850"/>
            <a:ext cx="6329702" cy="3562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2A729-FE2A-4A28-B044-A2382717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336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D4B"/>
                </a:solidFill>
              </a:defRPr>
            </a:pPr>
            <a:r>
              <a:rPr sz="975" b="1">
                <a:solidFill>
                  <a:srgbClr val="0B5D4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90FA7-66B2-4D7A-A1CF-0FA14345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7241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Hero держит фокус на продукции.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36B58-A8BD-40D5-AD0B-39BD81D2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004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D4B"/>
                </a:solidFill>
              </a:defRPr>
            </a:pPr>
            <a:r>
              <a:rPr sz="975" b="1">
                <a:solidFill>
                  <a:srgbClr val="0B5D4B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F3FC9-3065-4CBE-9D5D-F18ECDBB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3909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Urania помогает: продукт, документ, КП, сервис.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01313-B431-4430-86EA-C87D0DB5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671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D4B"/>
                </a:solidFill>
              </a:defRPr>
            </a:pPr>
            <a:r>
              <a:rPr sz="975" b="1">
                <a:solidFill>
                  <a:srgbClr val="0B5D4B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510B7-BF6F-4785-BEB6-140FEEB2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0576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Кнопка доступна после скролла.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8AFFD-44D5-4873-B868-CC098214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339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D4B"/>
                </a:solidFill>
              </a:defRPr>
            </a:pPr>
            <a:r>
              <a:rPr sz="975" b="1">
                <a:solidFill>
                  <a:srgbClr val="0B5D4B"/>
                </a:solidFill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47BA7B-E778-44F6-AD14-181C1C2C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7244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Ответы только из утверждённых источников.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7E7E2-5F1F-478F-8845-1CC8A6BD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4A65D5-613B-4C05-939F-EBEBE106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B5B"/>
                </a:solidFill>
              </a:defRPr>
            </a:pPr>
            <a:r>
              <a:rPr sz="825" b="0">
                <a:solidFill>
                  <a:srgbClr val="5B5B5B"/>
                </a:solidFill>
              </a:rPr>
              <a:t>v3: Urania визуализирована как аватар и web-assistant в hero.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AB458-5CE6-494C-9FE0-3A7FAB11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80902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8EF3BF-9E1F-4B0E-BC65-C6B1CCC1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VEDAL / дизайн-пайплайн сайта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38715-E623-4A5F-B383-B0CEF4E5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191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Страницы первого релиза проектируем с местами под ответы НН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22BA9-6AF1-4588-95E4-D66C878C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46041-E8A9-4A22-AC23-1B49E458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5D4B"/>
                </a:solidFill>
              </a:defRPr>
            </a:pPr>
            <a:r>
              <a:rPr sz="1650" b="1">
                <a:solidFill>
                  <a:srgbClr val="0B5D4B"/>
                </a:solidFill>
              </a:rPr>
              <a:t>Главная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3CEC5-D6B1-467C-82F6-4E4567CF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hero, производство, CTA, место под Urania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A2FE0-AE62-46A6-9201-4ABE4057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241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244AD-7C4D-4C63-B6F2-9164175C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146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5D4B"/>
                </a:solidFill>
              </a:defRPr>
            </a:pPr>
            <a:r>
              <a:rPr sz="1650" b="1">
                <a:solidFill>
                  <a:srgbClr val="0B5D4B"/>
                </a:solidFill>
              </a:rPr>
              <a:t>Продукция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644EC-E8EB-4EB2-A701-7D17F06D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575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10 карточек, категории, фильтры, КП, каталог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9778C-E717-4F33-A08D-BD7DEF18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AB37E-46EA-400E-B340-894740E6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146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Производство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1AD82-75BC-41DD-B789-23BDB588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фото, качество, ISO, процессы без чувствительных деталей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B3AF7-7FD3-4F65-84FA-30AA8F06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8EE73-ED63-403B-9B2C-B156AA15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Документы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85D30C-F0C1-42DD-82E5-5C6EC039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публичные сертификаты, каталог, пресс-материалы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8A2B1B-0191-4B69-98FE-6AF1300F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100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59CD96-EDE0-4AF2-8E5B-CB06DCC8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00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Пресс-центр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927C15-7760-4D2A-A070-AB4ADDE8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434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Иннопром, новости, партнёры, медиа-кит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9B9243-22FB-4A02-A248-CE28A9EA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100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6BC43-B42B-44A7-9929-EA098576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00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Контакты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C670AB-02D2-4952-8A53-F782777C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434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продажи, сервис, формы, согласия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9EC559-6C6B-43B8-9217-72EFE6BD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7E9061-316E-4678-9974-52423DE2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B5B"/>
                </a:solidFill>
              </a:defRPr>
            </a:pPr>
            <a:r>
              <a:rPr sz="825" b="0">
                <a:solidFill>
                  <a:srgbClr val="5B5B5B"/>
                </a:solidFill>
              </a:rPr>
              <a:t>v3: Urania визуализирована как аватар и web-assistant в hero.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8BB7AC-226A-4961-A959-477D6C98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480010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59C241-898A-4583-8720-B6224C26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VEDAL / дизайн-пайплайн сайта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826A3-27B7-4EFD-BF12-66F84E22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191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Метаданные ответа НН сразу превращаются в контент для страниц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02F06-7906-4EFF-A179-A486632E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9906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48F3F-8990-44D3-A481-B7F7CC92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Поле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7EB86-2C25-43E9-BE65-3CFDB88C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003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Пример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7856F-2B83-43B2-90ED-72A7AD6C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00300"/>
            <a:ext cx="459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Куда подставляем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48F196-73A7-4679-A952-A2BD32A2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9906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A2455-9FD0-4C70-AF50-0BA6DA4A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product_priority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46E08-879D-43E7-A008-3EBB8716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146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1-10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FA087-BF1E-426B-A5F3-641A2DC6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14650"/>
            <a:ext cx="459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порядок карточек и hero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4B64BE-5B5B-4930-AA99-ED6A9EBF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9906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62F7D2-FA84-4ED6-B121-5081AF8F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public_status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5B0FD-A202-4C6E-A0FC-CBACF0B5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290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можно / нельзя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19D27F-6E08-47DC-AD96-EC29BC50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29000"/>
            <a:ext cx="459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документы, SEO, тексты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995E5D-43EE-4C00-A456-58366DA8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9906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D8DC25-D429-479A-AA70-42CF88A0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certification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74DE1A-748A-4975-BEC7-64F0BA8E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433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РУ, ISO, испытания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EFD4F2-974D-48C1-9286-CEB0B17F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943350"/>
            <a:ext cx="459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доверие и документы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378D29-DC51-4C20-974B-0214F457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9906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409129-368F-4E9F-93A2-8B6A92EE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cta_type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0B3790-ADD1-404F-B538-5B32EC5A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4577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КП / каталог / сервис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CADFA2-7635-4A7D-A46E-B95D8286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57700"/>
            <a:ext cx="459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формы и CRM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CA6173-5204-455E-A6A3-C7E7D947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9906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F2D6B8-6242-48BA-AAF1-C57BD35D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asset_link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C6514D-1F53-4D89-A369-AE4CAA85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720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облако / файл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304A0D-5393-4DC3-BE1B-E9550FDC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972050"/>
            <a:ext cx="459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фото, видео, PDF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5BDAA6-C286-473E-B9A5-358A9AA6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53050"/>
            <a:ext cx="9906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760661-5180-4004-BBB5-D3D1F987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assistant_slot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CEBC6B-0A9D-4BC4-B7DD-C98055D6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4864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hero / button / both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0FA14F-F31E-4207-8C28-C9246136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486400"/>
            <a:ext cx="459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место Urania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19931F-7CAB-439E-A13B-CB28773D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ACE3E8-8C5B-43F4-8930-1FEB4DB9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B5B"/>
                </a:solidFill>
              </a:defRPr>
            </a:pPr>
            <a:r>
              <a:rPr sz="825" b="0">
                <a:solidFill>
                  <a:srgbClr val="5B5B5B"/>
                </a:solidFill>
              </a:rPr>
              <a:t>v3: Urania визуализирована как аватар и web-assistant в hero.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34C3E4-52CC-4527-86CC-F925BB96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77448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722AEC-0709-4BF5-8951-80387EB6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VEDAL / дизайн-пайплайн сайта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DDE01-3A39-433A-A9EC-167814BD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191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Три варианта фронтенда дают НН выбор без затягивания сроков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5F32A-8785-44A0-BA7D-CA39A007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3143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63C4F-F40D-4A04-8614-C1C55624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D4B"/>
                </a:solidFill>
              </a:defRPr>
            </a:pPr>
            <a:r>
              <a:rPr sz="1800" b="1">
                <a:solidFill>
                  <a:srgbClr val="0B5D4B"/>
                </a:solidFill>
              </a:rPr>
              <a:t>A. Консервативный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B3781-3BBA-4022-8EB0-15C533ED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производитель, доверие, документы, строгий B2B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4EB16-6C64-4112-AA23-CC5776A8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D4B"/>
                </a:solidFill>
              </a:defRPr>
            </a:pPr>
            <a:r>
              <a:rPr sz="1050" b="1">
                <a:solidFill>
                  <a:srgbClr val="0B5D4B"/>
                </a:solidFill>
              </a:rPr>
              <a:t>рекомендован для первой защиты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1737B-FDE4-4D38-A96E-DA1E7D00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95550"/>
            <a:ext cx="3143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3A683-E59E-405A-ADB8-192DF492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0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B. Продуктовый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3D950-B4AE-4A64-B75A-BBC9647D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147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каталог как центр, быстрый путь к КП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6DCEE-2FE3-4CF2-B413-13C47EEB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43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как альтернативный макет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32AFB-AB68-4D08-95DC-C117EC4A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95550"/>
            <a:ext cx="3143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B303C-E4EF-4BA7-B62C-BF102958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00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C. Экспертный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3D7A4-7AEB-482C-971A-D4FA554D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147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5B5B"/>
                </a:solidFill>
              </a:defRPr>
            </a:pPr>
            <a:r>
              <a:rPr sz="1350" b="0">
                <a:solidFill>
                  <a:srgbClr val="5B5B5B"/>
                </a:solidFill>
              </a:rPr>
              <a:t>технологии, R&amp;D, AI-ready, международный сигнал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30067-0D91-4851-B266-6D03EF5B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43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как альтернативный макет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41C8FE-681F-4B17-B97C-C762ABBC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Для пятничной версии показываем не полноценные макеты, а выбранную логику страниц и критерии дизайна.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213329-56CF-4FAF-8E97-4E1065A0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4F0ADD-47E1-4C6F-8E49-9FFAB991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B5B"/>
                </a:solidFill>
              </a:defRPr>
            </a:pPr>
            <a:r>
              <a:rPr sz="825" b="0">
                <a:solidFill>
                  <a:srgbClr val="5B5B5B"/>
                </a:solidFill>
              </a:rPr>
              <a:t>v3: Urania визуализирована как аватар и web-assistant в hero.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D2E546-2D0C-46A8-B038-4028DAD0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7165785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9B4DF3-2ED2-48A8-960D-443167FA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VEDAL / дизайн-пайплайн сайта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7FBC6-5A63-40A6-BBB3-29D38AFA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191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Каталог первого релиза должен быть главным объектом вёрстки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2e449cde141c8"/>
          <a:srcRect xmlns:a="http://schemas.openxmlformats.org/drawingml/2006/main" l="0" t="9091" r="0" b="90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1352550"/>
            <a:ext cx="3143250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FC50E-0FE6-41A2-A546-AA0018B8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D4B"/>
                </a:solidFill>
              </a:defRPr>
            </a:pPr>
            <a:r>
              <a:rPr sz="975" b="1">
                <a:solidFill>
                  <a:srgbClr val="0B5D4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36AA2-0385-41B5-8B1B-E8A59D11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588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Карточка: название, назначение, фото, статус, CTA.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2974F-09F8-4FA1-98D0-C8BC821E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575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D4B"/>
                </a:solidFill>
              </a:defRPr>
            </a:pPr>
            <a:r>
              <a:rPr sz="975" b="1">
                <a:solidFill>
                  <a:srgbClr val="0B5D4B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5058F-10A4-44A5-91BB-FDDB2021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588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Страница продукта: преимущества, характеристики, документы.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97C7E-0AAC-418F-B3A8-D1B0DDAF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909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D4B"/>
                </a:solidFill>
              </a:defRPr>
            </a:pPr>
            <a:r>
              <a:rPr sz="975" b="1">
                <a:solidFill>
                  <a:srgbClr val="0B5D4B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D00BB-58F0-4EC6-9E9B-EEF3ED14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588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Фильтры: неонатология, реанимация, анестезиология, мониторинг.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DBA98-05B9-4EF6-92B2-1E1EE269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243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D4B"/>
                </a:solidFill>
              </a:defRPr>
            </a:pPr>
            <a:r>
              <a:rPr sz="975" b="1">
                <a:solidFill>
                  <a:srgbClr val="0B5D4B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43B6C7-B23B-48BF-B812-8849F722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588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Пока нет ответов НН, карточки помечаем как “ожидает уточнения”.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8875B-1D06-44F2-944F-6680D1D4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79758-C621-4914-B0DE-36C0A99D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B5B"/>
                </a:solidFill>
              </a:defRPr>
            </a:pPr>
            <a:r>
              <a:rPr sz="825" b="0">
                <a:solidFill>
                  <a:srgbClr val="5B5B5B"/>
                </a:solidFill>
              </a:rPr>
              <a:t>v3: Urania визуализирована как аватар и web-assistant в hero.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72EF5-359D-47FC-A2E6-01F360D8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1905985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2AEC76-E1F3-4C7E-ACB6-FCBA1F45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VEDAL / дизайн-пайплайн сайта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349FE-7030-4E9C-9D2D-04A266FF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191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Пакет для Claude/верстальщика должен быть готов до дизайна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B769E-9083-40CC-A2EB-92DE237B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10096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2405A-8D12-4964-A2BE-FCF648FF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#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A45C7-6B48-49AA-B8AB-AC2FA5DC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003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Артефакт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61796-90B3-48FB-8430-3EDC66D1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00300"/>
            <a:ext cx="630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Содержание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FE041-8D47-4C2C-BE57-D3065146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10096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33A3A-2D4C-4BC6-8421-EFEE941C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7643E-4FCB-444E-8961-88DB00A6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146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sitemap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7638E-0B4D-4A77-AD1B-B8590A03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14650"/>
            <a:ext cx="630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разделы, URL, приоритет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C3234-58EC-44B0-9C29-DDF575C8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10096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13FCC-7836-4EFA-AD58-5E840B27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D914E-3C76-4B81-B97A-EB499992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content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DA1940-7967-40CA-B96B-45AE0FA8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29000"/>
            <a:ext cx="630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поля продукта и документа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3D2B9-6CC9-4762-9A44-38B75F9C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10096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73EFBD-E23D-4FB3-9F9A-83A6069C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11F733-D7D3-4D91-BFDD-C98CE8F5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433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page briefs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AB4464-F34C-465A-95D9-E509EDA1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43350"/>
            <a:ext cx="630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цель, блоки, CTA, SEO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09C422-5A00-446B-B836-4DC00B65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10096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30CBFB-20F2-4588-810E-72F23DF3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6A9ADF-2E82-4833-8E8B-78B6DAED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577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design rules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12905D-7F59-4660-B0D2-650D54FD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57700"/>
            <a:ext cx="630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строгий B2B, без маркетинговой перегрузки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F44129-7D77-4064-8676-0513AFAF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10096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8B6100-2933-438D-8DA1-D13C6C1E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623C29-7CE6-4464-BBB9-469698AD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72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asset map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8B5462-C5D4-4B3E-91D5-9592BEDA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72050"/>
            <a:ext cx="630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что ждём от НН и куда вставлять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F6241C-A54B-4394-94D8-6C0760CD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53050"/>
            <a:ext cx="10096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30DA4A-319A-4905-BBB9-07463DD4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D03870-361F-4F13-A2C9-B7A41CF0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864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Smart Solution layer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DBA65D-1CD1-4F94-9D87-761B60F0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86400"/>
            <a:ext cx="630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как связать сайт, CRM/S3 и будущий AI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A9A353-62B0-4F36-AFBB-8B313675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8D2111-6498-41C2-8C78-D324E4A7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B5B"/>
                </a:solidFill>
              </a:defRPr>
            </a:pPr>
            <a:r>
              <a:rPr sz="825" b="0">
                <a:solidFill>
                  <a:srgbClr val="5B5B5B"/>
                </a:solidFill>
              </a:rPr>
              <a:t>v3: Urania визуализирована как аватар и web-assistant в hero.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C65A45-4ADE-4F65-9179-BA3EA9E0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6075924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3FCAF5-A370-481A-90CE-9631A535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VEDAL / дизайн-пайплайн сайта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C7112-E749-4447-A7ED-5EECEC2C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191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Оценка: выделенная команда 7 человек закрывает быстрый релиз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6C22D-0D03-45F7-AB93-A4158ACE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103822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BF0A8-39F1-4B30-98E3-D8A3BFF7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Роль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42866-BAE4-422A-96B2-97BE6AC9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669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Загрузка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9DE05-5288-4BA9-B573-980E0109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66950"/>
            <a:ext cx="611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Зона ответственности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D2ECA0-AB26-4761-8621-EFBC9DF2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03822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E7429-4D6B-48EC-93E6-1B330B2B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PM / аналитик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91FAE-63AA-46D1-8F5C-466FF64B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813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1.0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6FC42-2276-4CF6-A8C1-65A6B1DB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81300"/>
            <a:ext cx="611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сбор ответов НН, сроки, структура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B48DC-69C3-4D28-B20F-E9B4AF9C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103822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A8313-426C-46D0-A5B4-2FF0C77A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UX/UI дизайнер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55E5D-BE24-4689-8E58-D572AAF5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956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1.0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3AE732-F806-4C00-A5C3-493BCD50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95650"/>
            <a:ext cx="611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3 варианта, финальный макет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94B2E4-954E-495D-9A56-A3DA8E5D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103822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6C49F1-660B-4C6E-83AD-6FC97095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Frontend lead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D34DD8-72A6-43BA-99DC-FF366787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100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1.0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646375-8D7B-416A-9877-1797D996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10000"/>
            <a:ext cx="611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архитектура, компоненты, интеграция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D03574-FE88-4C22-A546-141DB946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103822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677134-3091-4B3B-BA89-93D00BD3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Frontend developer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6982E5-CB34-4599-B561-3AB7C606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243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1.0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CAD3E0-A4F7-4F19-A1A4-C36886FE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324350"/>
            <a:ext cx="611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страницы, адаптив, формы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13474B-192E-4F2E-8127-2C8ED566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103822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7E15D7-3DD1-4143-B809-CA9CA867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Backend/CMS developer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6F1A9C-B5FA-4023-A9F4-BA8FD50A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8387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0.7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18F30F-62CF-45E8-8588-B263B8AE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8700"/>
            <a:ext cx="611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формы, CMS, S3, CRM handoff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F00C3A-64CF-4FBE-ABD8-906AA38B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3822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778EA1-AD24-4378-B983-8B238938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Content/SEO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611890-9443-4C7B-9413-95E26FBA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3530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0.8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DFC733-9B59-45BE-9867-6F98692E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53050"/>
            <a:ext cx="611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тексты, мета, документы, языки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7D97B3-BC98-49C0-A344-D2E93181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103822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BE9764-260C-47C3-B7DA-4D4713CF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6740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QA/DevOps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A2E01B-2CE7-4D89-B5BE-0F5A3E07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8674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0.5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91FDC3-26A4-42E9-A8E7-26180506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67400"/>
            <a:ext cx="611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проверка, домен, деплой, Метрика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55B644-A5F2-4434-BEE9-6EB19D16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7DE472-219B-4407-9D93-94FE75A0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B5B"/>
                </a:solidFill>
              </a:defRPr>
            </a:pPr>
            <a:r>
              <a:rPr sz="825" b="0">
                <a:solidFill>
                  <a:srgbClr val="5B5B5B"/>
                </a:solidFill>
              </a:rPr>
              <a:t>v3: Urania визуализирована как аватар и web-assistant в hero.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39754D-F759-4C7D-A07E-7DEC3C41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6821020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1FEC38-C813-4B15-BC96-4CE36D78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VEDAL / дизайн-пайплайн сайта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EEAC5-CCB2-4CD0-A8D0-EF511FD8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191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Сжатый график реалистичен только при фиксированном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C2EDC-6810-4A15-8A2C-FDDA3240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2266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A0225-3278-41A3-ADDC-4989E633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23 июля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4858C-1A18-4BF9-8EF0-40460756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B5B"/>
                </a:solidFill>
              </a:defRPr>
            </a:pPr>
            <a:r>
              <a:rPr sz="1200" b="0">
                <a:solidFill>
                  <a:srgbClr val="5B5B5B"/>
                </a:solidFill>
              </a:rPr>
              <a:t>PowerPoint v0, вопросы, структура страниц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936A7-9732-4DD8-830C-150AD0C3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47950"/>
            <a:ext cx="2266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34CB6-665A-47CC-8017-344209E5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146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D4B"/>
                </a:solidFill>
              </a:defRPr>
            </a:pPr>
            <a:r>
              <a:rPr sz="1800" b="1">
                <a:solidFill>
                  <a:srgbClr val="0B5D4B"/>
                </a:solidFill>
              </a:rPr>
              <a:t>24 июля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4CF96-0A93-4A8A-8949-9F289AE6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09950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B5B"/>
                </a:solidFill>
              </a:defRPr>
            </a:pPr>
            <a:r>
              <a:rPr sz="1200" b="0">
                <a:solidFill>
                  <a:srgbClr val="5B5B5B"/>
                </a:solidFill>
              </a:rPr>
              <a:t>проверка НН, ответы, выбор фронтенд-варианта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01CA5-F911-402B-B60C-9B30B943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47950"/>
            <a:ext cx="2266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CFF1A-AE82-4F53-8D83-D5BF65B6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146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27 июля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8ED76A-D8C8-4F3F-AE6F-75202307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B5B"/>
                </a:solidFill>
              </a:defRPr>
            </a:pPr>
            <a:r>
              <a:rPr sz="1200" b="0">
                <a:solidFill>
                  <a:srgbClr val="5B5B5B"/>
                </a:solidFill>
              </a:rPr>
              <a:t>финальная презентация, тесты, релизный пакет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DBE441-3683-4492-BCF3-10A4BC93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47950"/>
            <a:ext cx="2266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B5311-20C8-403D-AF34-0E66D6A8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146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28 июля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563E0B-CC1F-4E2F-9BFD-C3A0FF03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09950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5B5B"/>
                </a:solidFill>
              </a:defRPr>
            </a:pPr>
            <a:r>
              <a:rPr sz="1200" b="0">
                <a:solidFill>
                  <a:srgbClr val="5B5B5B"/>
                </a:solidFill>
              </a:rPr>
              <a:t>защита перед стейкхолдерами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3E7EEB-3968-45F3-B85B-927E7760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720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45A2C"/>
                </a:solidFill>
              </a:defRPr>
            </a:pPr>
            <a:r>
              <a:rPr sz="1725" b="1">
                <a:solidFill>
                  <a:srgbClr val="C45A2C"/>
                </a:solidFill>
              </a:rPr>
              <a:t>Критично: вопросы НН должны быть закрыты до конца 24 июля 2026, иначе в понедельник финализируем только подтверждённую часть.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080310-11A7-4EF1-B978-78F6525C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812630-EC7E-4F8D-94AD-A8C10D69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B5B"/>
                </a:solidFill>
              </a:defRPr>
            </a:pPr>
            <a:r>
              <a:rPr sz="825" b="0">
                <a:solidFill>
                  <a:srgbClr val="5B5B5B"/>
                </a:solidFill>
              </a:rPr>
              <a:t>v3: Urania визуализирована как аватар и web-assistant в hero.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CE4466-CD4D-4676-986A-D6BA2865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0015002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429B85-A6E8-4606-94FC-2252E5F5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VEDAL / дизайн-пайплайн сайта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3558A-37B7-4241-86EF-D6E9EBDB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191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Инфраструктура остаётся в программе, но не спорит с первым релизом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F63B2-F8CF-482A-8BAA-EA001F78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5D4B"/>
                </a:solidFill>
              </a:defRPr>
            </a:pPr>
            <a:r>
              <a:rPr sz="1725" b="1">
                <a:solidFill>
                  <a:srgbClr val="0B5D4B"/>
                </a:solidFill>
              </a:rPr>
              <a:t>S3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19A36-81F7-4195-A298-29D65822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71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B5B"/>
                </a:solidFill>
              </a:defRPr>
            </a:pPr>
            <a:r>
              <a:rPr sz="1425" b="0">
                <a:solidFill>
                  <a:srgbClr val="5B5B5B"/>
                </a:solidFill>
              </a:rPr>
              <a:t>медиа и документы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3F09F-B01C-4136-A0B9-2367EBDC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8127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DC141-F798-46E5-8247-F69CC1EB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5D4B"/>
                </a:solidFill>
              </a:defRPr>
            </a:pPr>
            <a:r>
              <a:rPr sz="1725" b="1">
                <a:solidFill>
                  <a:srgbClr val="0B5D4B"/>
                </a:solidFill>
              </a:rPr>
              <a:t>CRM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C63EC-B9DB-44FD-BB23-BD03ADE7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575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B5B"/>
                </a:solidFill>
              </a:defRPr>
            </a:pPr>
            <a:r>
              <a:rPr sz="1425" b="0">
                <a:solidFill>
                  <a:srgbClr val="5B5B5B"/>
                </a:solidFill>
              </a:rPr>
              <a:t>заявки и КП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CA11B-F785-4C39-A82C-C108548E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6707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6FD1BD-AB9B-4FC5-9FE2-54F720B5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Smart Solution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B8E85-57E3-4B45-BF56-FECABBB0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433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B5B"/>
                </a:solidFill>
              </a:defRPr>
            </a:pPr>
            <a:r>
              <a:rPr sz="1425" b="0">
                <a:solidFill>
                  <a:srgbClr val="5B5B5B"/>
                </a:solidFill>
              </a:rPr>
              <a:t>интеграционный слой сайта, CRM/S3 и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62368-9E77-4B63-8191-A9EA8AD4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5287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C0281-D648-4A6C-B51A-D9E1A2B6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Контур 60 сотрудников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35EDDA-ADBF-49FE-9C23-5FF13BCC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29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B5B"/>
                </a:solidFill>
              </a:defRPr>
            </a:pPr>
            <a:r>
              <a:rPr sz="1425" b="0">
                <a:solidFill>
                  <a:srgbClr val="5B5B5B"/>
                </a:solidFill>
              </a:rPr>
              <a:t>почта, встречи, роли, VPN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32AD74-3D82-44A9-ACF0-AE61A0EA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3867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BFD15-32C9-41D0-926A-ADCDC73B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95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AI-поиск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9F6BF4-FAD5-4C74-BF3C-24FA18C1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9149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B5B"/>
                </a:solidFill>
              </a:defRPr>
            </a:pPr>
            <a:r>
              <a:rPr sz="1425" b="0">
                <a:solidFill>
                  <a:srgbClr val="5B5B5B"/>
                </a:solidFill>
              </a:rPr>
              <a:t>документы для продаж и сервиса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A8EC9-FFA2-42EE-B849-65B85A8C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2447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5DA081-2F0B-4EA4-BD04-EA64FFDE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VLM-пилот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5E9BFA-D4BD-47F0-8981-B56954EA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600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B5B"/>
                </a:solidFill>
              </a:defRPr>
            </a:pPr>
            <a:r>
              <a:rPr sz="1425" b="0">
                <a:solidFill>
                  <a:srgbClr val="5B5B5B"/>
                </a:solidFill>
              </a:rPr>
              <a:t>сервис и производство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92D11A-B7AE-4E34-8963-CD63D71D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027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026BD9-CF8B-412B-A2AD-499476C0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76500"/>
            <a:ext cx="2476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В презентации для стейкхолдеров это будет выглядеть как roadmap после запуска сайта, а не как обязательство сделать всё сразу.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999798-C845-4F87-829F-565288BA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E61CE2-8374-46F7-940F-331D2E8C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B5B"/>
                </a:solidFill>
              </a:defRPr>
            </a:pPr>
            <a:r>
              <a:rPr sz="825" b="0">
                <a:solidFill>
                  <a:srgbClr val="5B5B5B"/>
                </a:solidFill>
              </a:rPr>
              <a:t>v3: Urania визуализирована как аватар и web-assistant в hero.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C016D7-E513-4BE0-9E3A-8F6C772C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9746006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35AB2D-AA28-447E-A1B3-D0CE8CD9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VEDAL / дизайн-пайплайн сайта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4D1C7-0F15-4B5E-BF04-CBEEC8A9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191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Smart Solution добавляет интеграционный слой поверх сайта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2bac3930f488a"/>
          <a:stretch xmlns:a="http://schemas.openxmlformats.org/drawingml/2006/main"/>
        </p:blipFill>
        <p:spPr>
          <a:xfrm xmlns:a="http://schemas.openxmlformats.org/drawingml/2006/main">
            <a:off x="7067550" y="1883093"/>
            <a:ext cx="3905250" cy="101536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05EE8-97B6-4B72-B60D-2031D715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860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D4B"/>
                </a:solidFill>
              </a:defRPr>
            </a:pPr>
            <a:r>
              <a:rPr sz="975" b="1">
                <a:solidFill>
                  <a:srgbClr val="0B5D4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3BE22-3D70-4948-A961-32A31543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Не заменяет бренд VEDAL: Smart Solution выступает технологическим интегратором.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66D6E-5C80-4162-AF4E-7A84F1C0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384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D4B"/>
                </a:solidFill>
              </a:defRPr>
            </a:pPr>
            <a:r>
              <a:rPr sz="975" b="1">
                <a:solidFill>
                  <a:srgbClr val="0B5D4B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C82D2-52EF-4E58-9A92-1B03402E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Связывает сайт, формы, CRM, S3-хранилище и будущий AI-поиск.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9C9D3-04B2-4776-BDCC-E3926351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909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D4B"/>
                </a:solidFill>
              </a:defRPr>
            </a:pPr>
            <a:r>
              <a:rPr sz="975" b="1">
                <a:solidFill>
                  <a:srgbClr val="0B5D4B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A76A4-4530-4C9D-8CD8-EF06C751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Помогает упаковать ответы НН в метаданные страниц и продуктовых карточек.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37762-0968-4428-B323-26068040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433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D4B"/>
                </a:solidFill>
              </a:defRPr>
            </a:pPr>
            <a:r>
              <a:rPr sz="975" b="1">
                <a:solidFill>
                  <a:srgbClr val="0B5D4B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BD771-F583-494F-8809-B3BFB86A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33850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Даёт понятный мост от дизайна к внедрению без раздувания первого релиза.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8C62E-4A13-46C9-8C72-CDF666EB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71950"/>
            <a:ext cx="361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5D4B"/>
                </a:solidFill>
              </a:defRPr>
            </a:pPr>
            <a:r>
              <a:rPr sz="1500" b="1">
                <a:solidFill>
                  <a:srgbClr val="0B5D4B"/>
                </a:solidFill>
              </a:rPr>
              <a:t>В первом релизе показываем роль Smart Solution как архитектурного партнёра. Глубокие LLM/VLM-сценарии остаются следующим этапом.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BAB9B-4E42-4893-83AB-61A5DFA5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F5ED8A-566F-4BEF-A333-DF24658F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B5B"/>
                </a:solidFill>
              </a:defRPr>
            </a:pPr>
            <a:r>
              <a:rPr sz="825" b="0">
                <a:solidFill>
                  <a:srgbClr val="5B5B5B"/>
                </a:solidFill>
              </a:rPr>
              <a:t>v3: Urania визуализирована как аватар и web-assistant в hero.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78789-C035-4931-9FEC-7FD1BF05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2254718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5E2182-51A8-4467-BD7E-2E8C1572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VEDAL / дизайн-пайплайн сайта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675FA-7CEA-4D90-8DDA-D22B7AA3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191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Решение на пятницу: утвердить пакет для вёрстки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aa5d5a704e4a6b"/>
          <a:stretch xmlns:a="http://schemas.openxmlformats.org/drawingml/2006/main"/>
        </p:blipFill>
        <p:spPr>
          <a:xfrm xmlns:a="http://schemas.openxmlformats.org/drawingml/2006/main">
            <a:off x="8209739" y="1809750"/>
            <a:ext cx="1773271" cy="6667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b6b943a414e4e"/>
          <a:stretch xmlns:a="http://schemas.openxmlformats.org/drawingml/2006/main"/>
        </p:blipFill>
        <p:spPr>
          <a:xfrm xmlns:a="http://schemas.openxmlformats.org/drawingml/2006/main">
            <a:off x="8209739" y="2762250"/>
            <a:ext cx="1773271" cy="6667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f0c358c0f4115"/>
          <a:stretch xmlns:a="http://schemas.openxmlformats.org/drawingml/2006/main"/>
        </p:blipFill>
        <p:spPr>
          <a:xfrm xmlns:a="http://schemas.openxmlformats.org/drawingml/2006/main">
            <a:off x="7810500" y="3736658"/>
            <a:ext cx="2762250" cy="71818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D12FE-77AF-49A9-8547-0CF9CBAC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907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D4B"/>
                </a:solidFill>
              </a:defRPr>
            </a:pPr>
            <a:r>
              <a:rPr sz="975" b="1">
                <a:solidFill>
                  <a:srgbClr val="0B5D4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D499D-2E5A-440C-8F83-6E79F9D5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НН отвечает на квиз в конце презентации.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8401A2-9A07-4E23-ADBD-567461A5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D4B"/>
                </a:solidFill>
              </a:defRPr>
            </a:pPr>
            <a:r>
              <a:rPr sz="975" b="1">
                <a:solidFill>
                  <a:srgbClr val="0B5D4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57BE4F-D363-4FB0-AFF7-A08A347C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Мы подставляем ответы в мета-поля страниц.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D48BF-6AFF-4CCD-AB20-DA327CB7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956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D4B"/>
                </a:solidFill>
              </a:defRPr>
            </a:pPr>
            <a:r>
              <a:rPr sz="975" b="1">
                <a:solidFill>
                  <a:srgbClr val="0B5D4B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A6BEA-37DB-4DCE-9983-0DEC1F7C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Готовим 3 варианта frontend-концепции.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4B0AE2-65A4-4545-BDD1-5F8DF8DC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5D4B"/>
                </a:solidFill>
              </a:defRPr>
            </a:pPr>
            <a:r>
              <a:rPr sz="975" b="1">
                <a:solidFill>
                  <a:srgbClr val="0B5D4B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837936-1B1F-49C0-A7FA-1A4575FB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Выбираем один и отдаём в реализацию.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689304-FBD1-40A4-AD2A-67E59F00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790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5D4B"/>
                </a:solidFill>
              </a:defRPr>
            </a:pPr>
            <a:r>
              <a:rPr sz="1725" b="1">
                <a:solidFill>
                  <a:srgbClr val="0B5D4B"/>
                </a:solidFill>
              </a:rPr>
              <a:t>Дальше идут вопросы. Их цель — не обсуждать всё подряд, а быстро получить данные для дизайна и первой версии сайта.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B21BE8-E8A1-419B-A736-86A3550A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842D00-4704-4377-A50E-1974A19A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B5B"/>
                </a:solidFill>
              </a:defRPr>
            </a:pPr>
            <a:r>
              <a:rPr sz="825" b="0">
                <a:solidFill>
                  <a:srgbClr val="5B5B5B"/>
                </a:solidFill>
              </a:rPr>
              <a:t>v3: Urania визуализирована как аватар и web-assistant в hero.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C3F41B-B5F9-45AB-9859-87090051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6462266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D5B20D-0E50-4B3D-B612-E850D671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VEDAL / дизайн-пайплайн сайта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C49A6-CAA8-4C67-A1BE-59FFB1B5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191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Квиз для НН: сайт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25713-F068-48CA-8F54-EE5A3299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5B5B"/>
                </a:solidFill>
              </a:defRPr>
            </a:pPr>
            <a:r>
              <a:rPr sz="1500" b="0">
                <a:solidFill>
                  <a:srgbClr val="5B5B5B"/>
                </a:solidFill>
              </a:rPr>
              <a:t>Формат ответа: коротко заполнить колонку “Ответ НН”; после этого обновляем страницы, тексты и дизайн.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55D80-1018-4DFA-83E8-72B805BF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56C3E-5BEA-4F2B-84BC-CD4F0393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Вопрос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54C6F-D305-4827-B6B5-3A87EA5C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Ответ НН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736DD-0683-47AB-A4C4-912ACE9D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Что меняется в дизайне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FB06C-B976-4290-9B80-898A1302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457A8-F216-410B-ABEC-5D79BE5D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Сохраняем текущий vedal-med.ru или готовим новую версию?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43A2D-0D81-45DC-99BE-752C78EC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956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ожидаем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43FA9-663D-4783-9832-9F8C930B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95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архитектура и объём работ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98D10-5E52-4AB7-B9FB-2B2500BD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953CD-96A4-46A0-BB43-58D5DE81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Какие разделы обязательны в первом релизе?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2A45F-9756-4BE9-BFD2-95709138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100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ожидаем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EEBDC1-6073-4562-9134-AC418120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10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sitemap и меню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8E1203-4524-4100-A167-57673E85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5896B1-7769-4D60-92B6-97118AED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Нужны ли цены или только заявки/КП?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04FC8F-98A7-407A-82D7-B64C0635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243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ожидаем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808384-61B8-4C39-9841-F1F44305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243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карточки и CTA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C16E27-43CE-4715-90CE-350948FE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E8B649-7B68-4BC7-B840-6C0D6C4B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Кто утверждает публичные формулировки по медизделиям?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F2D883-A944-42E4-B8D6-3EA29257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8387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ожидаем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F567C4-6CD9-4440-9CF1-912B7DD7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38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процесс согласования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A19829-7A57-4392-B05E-954E66D1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7FC82B-792D-428C-8224-6B685A87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Какие формы нужны: КП, каталог, консультация, сервис, партнёрство?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04B863-A1FC-4495-B9F8-B60AEA83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3530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ожидаем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5ADBBD-2D88-46B0-83FE-D478C645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353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формы и CRM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061D0B-81F9-44E8-AF7F-A67F65E2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5B55A4-C7BB-4CE2-820F-DD39FE7F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B5B"/>
                </a:solidFill>
              </a:defRPr>
            </a:pPr>
            <a:r>
              <a:rPr sz="825" b="0">
                <a:solidFill>
                  <a:srgbClr val="5B5B5B"/>
                </a:solidFill>
              </a:rPr>
              <a:t>v3: Urania визуализирована как аватар и web-assistant в hero.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7B7C41-90B4-458B-82E5-6EFCD153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7429760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468CEA-9350-4463-92B3-7A6B6C23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VEDAL / дизайн-пайплайн сайта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B70B2-4F89-4DDA-9AD4-E574DC5E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191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Квиз для НН: продукты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55E69-3C71-4335-BD37-9C41752B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5B5B"/>
                </a:solidFill>
              </a:defRPr>
            </a:pPr>
            <a:r>
              <a:rPr sz="1500" b="0">
                <a:solidFill>
                  <a:srgbClr val="5B5B5B"/>
                </a:solidFill>
              </a:rPr>
              <a:t>Формат ответа: коротко заполнить колонку “Ответ НН”; после этого обновляем страницы, тексты и дизайн.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3B356-4A94-4943-AE13-091F1F83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CE91D-774C-484E-B1D8-65370E64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Вопрос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05B21-EAD4-4158-9E81-F05D9ABE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Ответ НН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4CEEC-D559-4635-A363-E7D15F6F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Что меняется в дизайне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D6C3D-7622-4720-97E8-56D65717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FF6DD-BE6F-4214-A745-13F10A54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Какие 10 продуктов входят в первый релиз?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A9F56F-96CB-43BA-88BA-0E76B80A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956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ожидаем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A6D84-929E-4CB5-9701-7AE37DBF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95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карточки каталога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B59EF9-AA47-4AC6-BBFB-0B5CED1B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32297-D8D8-4881-9CE5-169482D8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Какие продукты приоритетны для продаж?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512200-F5B7-4C70-BC09-B9B374EB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100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ожидаем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AD422B-26D0-4C55-9CFC-72EEF3B1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10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порядок и hero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024551-F4C2-419F-A7F4-F6B5EA18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D414D8-279A-46A7-9C85-9DC971D6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Какие продукты готовы к публичному продвижению?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42D783-2C7B-4243-BB78-FB4A7929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243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ожидаем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8C0DCF-267D-4012-868F-18DA3232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243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статусы публикации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968E02-1DFC-46C9-9D66-E36E539E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850AEC-9AD6-418A-8C32-D85F98F1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Где РУ, сертификаты, протоколы, ISO?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7BDF2D-F410-4E14-9DA8-6D394E54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8387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ожидаем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638AD5-71CF-45AB-81B5-3D471E6A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38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документы и доверие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046441-DCF7-4FDD-B605-AA36B55B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C80C02-BA2E-43E5-B161-422DC9C4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Какие характеристики можно публиковать без риска?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6D107D-DF06-46EC-9CEA-24C3AAA9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3530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ожидаем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9CC32E-76E1-4239-AAB7-F0B57EE6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353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таблицы продукта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30D1CA-5840-4523-A931-5FA528CF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1CCE39-B796-430E-99B2-C303C66B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B5B"/>
                </a:solidFill>
              </a:defRPr>
            </a:pPr>
            <a:r>
              <a:rPr sz="825" b="0">
                <a:solidFill>
                  <a:srgbClr val="5B5B5B"/>
                </a:solidFill>
              </a:rPr>
              <a:t>v3: Urania визуализирована как аватар и web-assistant в hero.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BC98FA-FF47-4A5F-AECC-3B275E5D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5556607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55F38F-BEB6-49AD-9489-47FC1111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VEDAL / дизайн-пайплайн сайта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B311F-B909-4EA1-AE0D-2C7593D4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191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Квиз для НН: материалы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CDF25-3314-423A-94CA-98583842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5B5B"/>
                </a:solidFill>
              </a:defRPr>
            </a:pPr>
            <a:r>
              <a:rPr sz="1500" b="0">
                <a:solidFill>
                  <a:srgbClr val="5B5B5B"/>
                </a:solidFill>
              </a:rPr>
              <a:t>Формат ответа: коротко заполнить колонку “Ответ НН”; после этого обновляем страницы, тексты и дизайн.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03C2E-6EF2-4E28-A795-19DF8509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B7A4B-4B7D-4903-8264-977F28B3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Вопрос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4C1B4-343A-4FB7-9E81-3A27B0EF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Ответ НН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D480BA-69FC-4CF0-A852-D2F8DA45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Что меняется в дизайне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BDB76-F4A6-4D92-9EC8-81665DA4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5B7D7-04B4-458A-AF13-717D782A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Где лежат фото, видео, каталоги и презентации?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101E4-82B6-488C-8879-6D69188F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956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ожидаем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AD802-1039-4400-91B9-89C91429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95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asset 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C3551-B3D4-49C9-980F-6BBC0387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067715-E83C-46C0-9702-0E04143E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Есть ли материалы Иннопрома в готовом виде?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B1B91-172D-4C86-B4E4-F6B204E2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100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ожидаем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0BDD99-DC1F-466E-89E9-34EF211B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10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пресс-центр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60B3E2-794D-4C68-A98A-39EF848C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5EF153-0D1E-4477-AFD7-623F39AA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Какие документы строго внутренние?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63C880-F6C5-4BAF-A330-849A9649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243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ожидаем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521847-E18E-4022-96F8-D5254C21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243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публичный/закрытый контур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0E55A6-8E1C-4D9B-9F18-69BE84DF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A13152-7203-49D3-9395-A0FD952B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Есть ли англоязычные или китайские материалы?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501632-7080-4735-B0F1-32C1D728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8387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ожидаем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043E9F-9444-423E-84B4-3040C0ED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38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языковые версии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8ADD5A-5782-47EA-8FFB-2404118C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173A71-4E97-4C90-9E33-89C4395E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Кто финально согласует публикацию документов?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D5C0BE-27B7-4476-90F4-679ACC65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3530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ожидаем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817702-3584-42F6-9DD6-3A6B85FD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353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workflow approval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60AB1B-E0AC-4710-85F7-B089D095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3F9749-400D-40E5-AC05-57B3A572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B5B"/>
                </a:solidFill>
              </a:defRPr>
            </a:pPr>
            <a:r>
              <a:rPr sz="825" b="0">
                <a:solidFill>
                  <a:srgbClr val="5B5B5B"/>
                </a:solidFill>
              </a:rPr>
              <a:t>v3: Urania визуализирована как аватар и web-assistant в hero.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9FF28D-E192-4508-AF20-C65E5A50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79598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D4BB96-9FB9-4146-B65D-2AAF9807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VEDAL / дизайн-пайплайн сайта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29D86-5558-49EB-9C49-21C8A981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191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Квиз для НН: инфраструктура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E6534-241F-40F7-B843-E634E007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5B5B"/>
                </a:solidFill>
              </a:defRPr>
            </a:pPr>
            <a:r>
              <a:rPr sz="1500" b="0">
                <a:solidFill>
                  <a:srgbClr val="5B5B5B"/>
                </a:solidFill>
              </a:rPr>
              <a:t>Формат ответа: коротко заполнить колонку “Ответ НН”; после этого обновляем страницы, тексты и дизайн.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5F78B-FBDA-4E77-ACB1-514FD584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C0B00-A80C-44F5-B55A-D95C59D6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Вопрос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EA6CF-3D4D-4FB6-9272-21E10DE3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Ответ НН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ABE43-9A77-4E77-8865-F66DE306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Что меняется в дизайне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265A4-EAC1-47D8-A200-62AE3E5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BC965-B328-4877-94EE-E1AAD072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Предпочтительный контур: Яндекс, Google, Контур или гибрид?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032CE-4A87-4176-80BC-93498945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956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ожидаем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148AA-9C91-449F-A178-23E5A7C2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95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roadmap после сайта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7A809-A40A-47B4-9565-9F8B7471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3CE2BA-3244-4D6E-82A5-8ED7A474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Есть ли требование хранить данные только в РФ?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980B32-3D77-46A6-A27C-83D58DCA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100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ожидаем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14A36C-4F18-4843-AA94-BD4E716C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10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облако и S3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2B705C-73F1-4A7B-AF6B-E8B2F6E7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A70FA6-3634-4B5F-9F87-E2230BDC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Нужен ли VPN сразу?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F86A5-869B-486E-BF87-AA7745EB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243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ожидаем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EFEA75-6750-401B-B5C0-50CD891F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243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закрытый доступ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74FE6-53BF-4C4D-832A-040CF465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918FEB-42DC-4549-9398-C9CCBD95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Какой CRM сейчас пользуются или рассматривают?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C7CE74-1EA3-4B6A-8936-68354E36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8387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ожидаем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61DCAF-20A5-4369-8E5E-1B59EE82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38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интеграция форм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A799EB-F208-49CB-BEAF-4B293B4E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CDA638-1892-43FE-A461-F681FE58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Кто администрирует пользователей и доступы?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386F43-E82F-47BB-BBF8-EF057448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3530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ожидаем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9E27D9-1648-40D2-9713-2B9891C7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353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операционная модель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0AF02C-8CB1-4339-BFA6-8D65ACBF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F33866-4ACA-4AA2-B971-6C7F4060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B5B"/>
                </a:solidFill>
              </a:defRPr>
            </a:pPr>
            <a:r>
              <a:rPr sz="825" b="0">
                <a:solidFill>
                  <a:srgbClr val="5B5B5B"/>
                </a:solidFill>
              </a:rPr>
              <a:t>v3: Urania визуализирована как аватар и web-assistant в hero.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ACD6BF-1C14-4A09-B1B0-28DCDB22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1274699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239C1B-D71D-4D66-B8BA-9F43A648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VEDAL / дизайн-пайплайн сайта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EC671-8F3D-4078-BDF8-FA1D95D9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191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Квиз для НН: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837FB-795F-4145-9D49-0C203EAF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5B5B"/>
                </a:solidFill>
              </a:defRPr>
            </a:pPr>
            <a:r>
              <a:rPr sz="1500" b="0">
                <a:solidFill>
                  <a:srgbClr val="5B5B5B"/>
                </a:solidFill>
              </a:rPr>
              <a:t>Формат ответа: коротко заполнить колонку “Ответ НН”; после этого обновляем страницы, тексты и дизайн.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6B583-AE5D-4F8E-A3FF-5AF54BD2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8297E-15D4-40CD-A470-ADB3A4A2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Вопрос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A33F1-0361-4256-858D-2BE66CB5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Ответ НН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CE1C5-FCC7-4A07-BE10-B2A81382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Что меняется в дизайне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B2EA8-B12C-4E11-9DB6-0172C8F0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2D689-43AC-491B-AC7B-21F05052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Какие документы можно использовать для внутреннего AI-поиска?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BE5BF-8BA1-4FB7-8BAF-8DF755D4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956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ожидаем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94516-9A21-46B5-AB6F-B39EC991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95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RAG-корпус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3C9383-41DF-4914-AC22-B1D0B317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0242D-0DDE-441F-9D14-F8537120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Нужен ли полностью закрытый контур для LLM/VLM?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75919E-A56F-4336-92D3-AE02CC48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100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ожидаем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F0811B-B2B5-4502-BEF1-DB136516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10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архитектура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5DE3A-BB3C-45EC-AD01-F8AE8ED9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45B93-8181-498F-A2B9-76E30B4A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Первые AI-сценарии: продажи, сервис, производство, R&amp;D?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3D94E0-D8D8-4E09-AC9A-E5845A27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243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ожидаем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E4BAC2-CA91-4808-B251-63C677C9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243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приоритет пилота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329B30-DCF2-4406-8FAF-84E21796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C05BAC-45B1-469C-8E37-2695B226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Можно ли начать с облачной модели Яндекса?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C47961-1547-4C82-B7D7-0161FEF0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8387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ожидаем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30EEE3-252D-4D2C-9C9C-1716412F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38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стоимость и сроки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F7A907-B3EC-46A4-A6CA-0E63C66F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125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7369FD-6C42-4111-BEC8-A43D2D30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Какие данные нельзя отправлять во внешние AI-сервисы?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D7C360-637A-4EA0-884E-ECA28776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3530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ожидаем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21DC9E-5D57-4DE6-95F7-C80A525E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353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security policy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EE2CC0-C843-47CC-B5CB-E7EE92F5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34AF63-02F1-490F-ADC9-C9DFA583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B5B"/>
                </a:solidFill>
              </a:defRPr>
            </a:pPr>
            <a:r>
              <a:rPr sz="825" b="0">
                <a:solidFill>
                  <a:srgbClr val="5B5B5B"/>
                </a:solidFill>
              </a:rPr>
              <a:t>v3: Urania визуализирована как аватар и web-assistant в hero.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402D9B-5411-41FC-97C1-E8B91661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B5B"/>
                </a:solidFill>
              </a:defRPr>
            </a:pPr>
            <a:r>
              <a:rPr sz="900" b="0">
                <a:solidFill>
                  <a:srgbClr val="5B5B5B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719446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2026-07-23T06:30:31.7820000Z</dcterms:created>
  <dcterms:modified xsi:type="dcterms:W3CDTF">2026-07-23T06:30:31.7820000Z</dcterms:modified>
</coreProperties>
</file>